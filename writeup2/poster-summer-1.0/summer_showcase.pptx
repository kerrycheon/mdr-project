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attle University monogram" descr="su_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2608"/>
            <a:ext cx="1975104" cy="1817095"/>
          </a:xfrm>
          <a:prstGeom prst="rect">
            <a:avLst/>
          </a:prstGeom>
        </p:spPr>
      </p:pic>
      <p:pic>
        <p:nvPicPr>
          <p:cNvPr id="3" name="Seattle University college logo" descr="su_colle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0" y="694944"/>
            <a:ext cx="3886200" cy="1646939"/>
          </a:xfrm>
          <a:prstGeom prst="rect">
            <a:avLst/>
          </a:prstGeom>
        </p:spPr>
      </p:pic>
      <p:sp>
        <p:nvSpPr>
          <p:cNvPr id="4" name="Poster title"/>
          <p:cNvSpPr txBox="1"/>
          <p:nvPr/>
        </p:nvSpPr>
        <p:spPr>
          <a:xfrm>
            <a:off x="2971800" y="347472"/>
            <a:ext cx="25008840" cy="14904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5664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202B35"/>
                </a:solidFill>
                <a:latin typeface="DejaVu Sans"/>
              </a:defRPr>
            </a:pPr>
            <a:r>
              <a:t>Two-Regime Models for Daily Soil-Moisture</a:t>
            </a:r>
          </a:p>
          <a:p>
            <a:pPr algn="ctr">
              <a:lnSpc>
                <a:spcPts val="5664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202B35"/>
                </a:solidFill>
                <a:latin typeface="DejaVu Sans"/>
              </a:defRPr>
            </a:pPr>
            <a:r>
              <a:t>Estimation in Washington</a:t>
            </a:r>
          </a:p>
        </p:txBody>
      </p:sp>
      <p:sp>
        <p:nvSpPr>
          <p:cNvPr id="5" name="Editable author and mentor placeholders"/>
          <p:cNvSpPr txBox="1"/>
          <p:nvPr/>
        </p:nvSpPr>
        <p:spPr>
          <a:xfrm>
            <a:off x="2971800" y="1847088"/>
            <a:ext cx="25008840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[Author names] · Mentored by [Mentor name, credentials]</a:t>
            </a:r>
          </a:p>
        </p:txBody>
      </p:sp>
      <p:sp>
        <p:nvSpPr>
          <p:cNvPr id="6" name="Department affiliation"/>
          <p:cNvSpPr txBox="1"/>
          <p:nvPr/>
        </p:nvSpPr>
        <p:spPr>
          <a:xfrm>
            <a:off x="2971800" y="2304288"/>
            <a:ext cx="25008840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Department of Computer Science, Seattle University</a:t>
            </a:r>
          </a:p>
        </p:txBody>
      </p:sp>
      <p:sp>
        <p:nvSpPr>
          <p:cNvPr id="7" name="Poster text 005"/>
          <p:cNvSpPr txBox="1"/>
          <p:nvPr/>
        </p:nvSpPr>
        <p:spPr>
          <a:xfrm>
            <a:off x="2971800" y="2743200"/>
            <a:ext cx="25008840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97780"/>
                </a:solidFill>
                <a:latin typeface="DejaVu Sans"/>
              </a:defRPr>
            </a:pPr>
            <a:r>
              <a:t>SUMMER RESEARCH SHOWCASE · 2026</a:t>
            </a:r>
          </a:p>
        </p:txBody>
      </p:sp>
      <p:sp>
        <p:nvSpPr>
          <p:cNvPr id="8" name="Project Overview"/>
          <p:cNvSpPr/>
          <p:nvPr/>
        </p:nvSpPr>
        <p:spPr>
          <a:xfrm>
            <a:off x="502920" y="317296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oster text 007"/>
          <p:cNvSpPr txBox="1"/>
          <p:nvPr/>
        </p:nvSpPr>
        <p:spPr>
          <a:xfrm>
            <a:off x="594360" y="3193999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Project Overview</a:t>
            </a:r>
          </a:p>
        </p:txBody>
      </p:sp>
      <p:sp>
        <p:nvSpPr>
          <p:cNvPr id="10" name="Poster text 008"/>
          <p:cNvSpPr txBox="1"/>
          <p:nvPr/>
        </p:nvSpPr>
        <p:spPr>
          <a:xfrm>
            <a:off x="685800" y="3886200"/>
            <a:ext cx="10058400" cy="80467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C00000"/>
                </a:solidFill>
                <a:latin typeface="DejaVu Sans"/>
              </a:defRPr>
            </a:pPr>
            <a:r>
              <a:t>Why daily estimates?</a:t>
            </a:r>
          </a:p>
        </p:txBody>
      </p:sp>
      <p:sp>
        <p:nvSpPr>
          <p:cNvPr id="11" name="Poster text 009"/>
          <p:cNvSpPr txBox="1"/>
          <p:nvPr/>
        </p:nvSpPr>
        <p:spPr>
          <a:xfrm>
            <a:off x="685800" y="4937760"/>
            <a:ext cx="10058400" cy="1554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Soil moisture informs irrigation and drought monitoring. Ground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sensors provide local measurements; satellites cover larger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areas but leave gaps in daily observations.</a:t>
            </a:r>
          </a:p>
        </p:txBody>
      </p:sp>
      <p:sp>
        <p:nvSpPr>
          <p:cNvPr id="12" name="Poster text 010"/>
          <p:cNvSpPr txBox="1"/>
          <p:nvPr/>
        </p:nvSpPr>
        <p:spPr>
          <a:xfrm>
            <a:off x="685800" y="6711696"/>
            <a:ext cx="10058400" cy="11704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We combine satellite, weather, and site data for daily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soil-moisture estimation. Earlier work established the pipeline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and a single global predictor.</a:t>
            </a:r>
          </a:p>
        </p:txBody>
      </p:sp>
      <p:sp>
        <p:nvSpPr>
          <p:cNvPr id="13" name="Poster box 011"/>
          <p:cNvSpPr/>
          <p:nvPr/>
        </p:nvSpPr>
        <p:spPr>
          <a:xfrm>
            <a:off x="685800" y="8147304"/>
            <a:ext cx="10058400" cy="1609344"/>
          </a:xfrm>
          <a:prstGeom prst="roundRect">
            <a:avLst>
              <a:gd name="adj" fmla="val 8000"/>
            </a:avLst>
          </a:prstGeom>
          <a:solidFill>
            <a:srgbClr val="F5F1ED"/>
          </a:solidFill>
          <a:ln w="12700">
            <a:solidFill>
              <a:srgbClr val="DE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ster text 012"/>
          <p:cNvSpPr txBox="1"/>
          <p:nvPr/>
        </p:nvSpPr>
        <p:spPr>
          <a:xfrm>
            <a:off x="886968" y="8302752"/>
            <a:ext cx="9656064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00000"/>
                </a:solidFill>
                <a:latin typeface="DejaVu Sans"/>
              </a:defRPr>
            </a:pPr>
            <a:r>
              <a:t>THE SUMMER QUESTION</a:t>
            </a:r>
          </a:p>
        </p:txBody>
      </p:sp>
      <p:sp>
        <p:nvSpPr>
          <p:cNvPr id="15" name="Poster text 013"/>
          <p:cNvSpPr txBox="1"/>
          <p:nvPr/>
        </p:nvSpPr>
        <p:spPr>
          <a:xfrm>
            <a:off x="886968" y="8769096"/>
            <a:ext cx="9656064" cy="8595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2B35"/>
                </a:solidFill>
                <a:latin typeface="DejaVu Sans"/>
              </a:defRPr>
            </a:pPr>
            <a:r>
              <a:t>Can two specialists improve estimates across</a:t>
            </a:r>
          </a:p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2B35"/>
                </a:solidFill>
                <a:latin typeface="DejaVu Sans"/>
              </a:defRPr>
            </a:pPr>
            <a:r>
              <a:t>Washington's contrasting conditions?</a:t>
            </a:r>
          </a:p>
        </p:txBody>
      </p:sp>
      <p:sp>
        <p:nvSpPr>
          <p:cNvPr id="16" name="Study Area &amp; Data"/>
          <p:cNvSpPr/>
          <p:nvPr/>
        </p:nvSpPr>
        <p:spPr>
          <a:xfrm>
            <a:off x="502920" y="10140696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ster text 015"/>
          <p:cNvSpPr txBox="1"/>
          <p:nvPr/>
        </p:nvSpPr>
        <p:spPr>
          <a:xfrm>
            <a:off x="594360" y="10161727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Study Area &amp; Data</a:t>
            </a:r>
          </a:p>
        </p:txBody>
      </p:sp>
      <p:pic>
        <p:nvPicPr>
          <p:cNvPr id="18" name="washington_stations" descr="washington_st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927080"/>
            <a:ext cx="6400800" cy="4114800"/>
          </a:xfrm>
          <a:prstGeom prst="rect">
            <a:avLst/>
          </a:prstGeom>
        </p:spPr>
      </p:pic>
      <p:sp>
        <p:nvSpPr>
          <p:cNvPr id="19" name="Poster text 017"/>
          <p:cNvSpPr txBox="1"/>
          <p:nvPr/>
        </p:nvSpPr>
        <p:spPr>
          <a:xfrm>
            <a:off x="868680" y="15261336"/>
            <a:ext cx="9692640" cy="8869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Station colors show fitted memberships across western Washington, the</a:t>
            </a:r>
          </a:p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Cascades, and the east.</a:t>
            </a:r>
          </a:p>
        </p:txBody>
      </p:sp>
      <p:sp>
        <p:nvSpPr>
          <p:cNvPr id="20" name="Poster box 018"/>
          <p:cNvSpPr/>
          <p:nvPr/>
        </p:nvSpPr>
        <p:spPr>
          <a:xfrm>
            <a:off x="731520" y="164592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ster text 019"/>
          <p:cNvSpPr txBox="1"/>
          <p:nvPr/>
        </p:nvSpPr>
        <p:spPr>
          <a:xfrm>
            <a:off x="822960" y="16568928"/>
            <a:ext cx="2880360" cy="5852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6E9B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2" name="Poster text 020"/>
          <p:cNvSpPr txBox="1"/>
          <p:nvPr/>
        </p:nvSpPr>
        <p:spPr>
          <a:xfrm>
            <a:off x="822960" y="17300448"/>
            <a:ext cx="2880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public stations</a:t>
            </a:r>
          </a:p>
        </p:txBody>
      </p:sp>
      <p:sp>
        <p:nvSpPr>
          <p:cNvPr id="23" name="Poster box 021"/>
          <p:cNvSpPr/>
          <p:nvPr/>
        </p:nvSpPr>
        <p:spPr>
          <a:xfrm>
            <a:off x="4160520" y="164592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oster text 022"/>
          <p:cNvSpPr txBox="1"/>
          <p:nvPr/>
        </p:nvSpPr>
        <p:spPr>
          <a:xfrm>
            <a:off x="4251959" y="16568928"/>
            <a:ext cx="2880360" cy="5852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6E9B"/>
                </a:solidFill>
                <a:latin typeface="DejaVu Sans"/>
              </a:defRPr>
            </a:pPr>
            <a:r>
              <a:t>54</a:t>
            </a:r>
          </a:p>
        </p:txBody>
      </p:sp>
      <p:sp>
        <p:nvSpPr>
          <p:cNvPr id="25" name="Poster text 023"/>
          <p:cNvSpPr txBox="1"/>
          <p:nvPr/>
        </p:nvSpPr>
        <p:spPr>
          <a:xfrm>
            <a:off x="4251959" y="17300448"/>
            <a:ext cx="2880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shared features</a:t>
            </a:r>
          </a:p>
        </p:txBody>
      </p:sp>
      <p:sp>
        <p:nvSpPr>
          <p:cNvPr id="26" name="Poster box 024"/>
          <p:cNvSpPr/>
          <p:nvPr/>
        </p:nvSpPr>
        <p:spPr>
          <a:xfrm>
            <a:off x="7589520" y="16459200"/>
            <a:ext cx="3063240" cy="1325880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oster text 025"/>
          <p:cNvSpPr txBox="1"/>
          <p:nvPr/>
        </p:nvSpPr>
        <p:spPr>
          <a:xfrm>
            <a:off x="7680960" y="16568928"/>
            <a:ext cx="2880360" cy="5852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424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6E9B"/>
                </a:solidFill>
                <a:latin typeface="DejaVu Sans"/>
              </a:defRPr>
            </a:pPr>
            <a:r>
              <a:t>5 cm</a:t>
            </a:r>
          </a:p>
        </p:txBody>
      </p:sp>
      <p:sp>
        <p:nvSpPr>
          <p:cNvPr id="28" name="Poster text 026"/>
          <p:cNvSpPr txBox="1"/>
          <p:nvPr/>
        </p:nvSpPr>
        <p:spPr>
          <a:xfrm>
            <a:off x="7680960" y="17300448"/>
            <a:ext cx="288036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target depth</a:t>
            </a:r>
          </a:p>
        </p:txBody>
      </p:sp>
      <p:sp>
        <p:nvSpPr>
          <p:cNvPr id="29" name="Poster text 027"/>
          <p:cNvSpPr txBox="1"/>
          <p:nvPr/>
        </p:nvSpPr>
        <p:spPr>
          <a:xfrm>
            <a:off x="685800" y="18159984"/>
            <a:ext cx="10058400" cy="104241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02B35"/>
                </a:solidFill>
                <a:latin typeface="DejaVu Sans"/>
              </a:defRPr>
            </a:pPr>
            <a:r>
              <a:t>Satellite, weather, and site features are aligned to daily</a:t>
            </a:r>
          </a:p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02B35"/>
                </a:solidFill>
                <a:latin typeface="DejaVu Sans"/>
              </a:defRPr>
            </a:pPr>
            <a:r>
              <a:t>observations; public in-situ sensors supply training targets.</a:t>
            </a:r>
          </a:p>
        </p:txBody>
      </p:sp>
      <p:sp>
        <p:nvSpPr>
          <p:cNvPr id="30" name="Poster box 028"/>
          <p:cNvSpPr/>
          <p:nvPr/>
        </p:nvSpPr>
        <p:spPr>
          <a:xfrm>
            <a:off x="731520" y="19549872"/>
            <a:ext cx="4663440" cy="932688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oster box 029"/>
          <p:cNvSpPr/>
          <p:nvPr/>
        </p:nvSpPr>
        <p:spPr>
          <a:xfrm>
            <a:off x="6035040" y="19549872"/>
            <a:ext cx="4663440" cy="932688"/>
          </a:xfrm>
          <a:prstGeom prst="roundRect">
            <a:avLst>
              <a:gd name="adj" fmla="val 8000"/>
            </a:avLst>
          </a:prstGeom>
          <a:solidFill>
            <a:srgbClr val="F5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oster text 030"/>
          <p:cNvSpPr txBox="1"/>
          <p:nvPr/>
        </p:nvSpPr>
        <p:spPr>
          <a:xfrm>
            <a:off x="868680" y="19659600"/>
            <a:ext cx="43891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2017–2022</a:t>
            </a:r>
          </a:p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Fit period</a:t>
            </a:r>
          </a:p>
        </p:txBody>
      </p:sp>
      <p:sp>
        <p:nvSpPr>
          <p:cNvPr id="33" name="Poster text 031"/>
          <p:cNvSpPr txBox="1"/>
          <p:nvPr/>
        </p:nvSpPr>
        <p:spPr>
          <a:xfrm>
            <a:off x="6172200" y="19659600"/>
            <a:ext cx="4389120" cy="6400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2023–2025</a:t>
            </a:r>
          </a:p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02B35"/>
                </a:solidFill>
                <a:latin typeface="DejaVu Sans"/>
              </a:defRPr>
            </a:pPr>
            <a:r>
              <a:t>Later-year test</a:t>
            </a:r>
          </a:p>
        </p:txBody>
      </p:sp>
      <p:cxnSp>
        <p:nvCxnSpPr>
          <p:cNvPr id="34" name="Poster line 032"/>
          <p:cNvCxnSpPr/>
          <p:nvPr/>
        </p:nvCxnSpPr>
        <p:spPr>
          <a:xfrm>
            <a:off x="5522976" y="20016216"/>
            <a:ext cx="411480" cy="0"/>
          </a:xfrm>
          <a:prstGeom prst="line">
            <a:avLst/>
          </a:prstGeom>
          <a:ln w="25400">
            <a:solidFill>
              <a:srgbClr val="919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oster text 033"/>
          <p:cNvSpPr txBox="1"/>
          <p:nvPr/>
        </p:nvSpPr>
        <p:spPr>
          <a:xfrm>
            <a:off x="685800" y="20720304"/>
            <a:ext cx="1005840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Target: daily soil moisture (m³/m³).</a:t>
            </a:r>
          </a:p>
        </p:txBody>
      </p:sp>
      <p:sp>
        <p:nvSpPr>
          <p:cNvPr id="36" name="Two-Regime Method"/>
          <p:cNvSpPr/>
          <p:nvPr/>
        </p:nvSpPr>
        <p:spPr>
          <a:xfrm>
            <a:off x="11247120" y="317296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oster text 035"/>
          <p:cNvSpPr txBox="1"/>
          <p:nvPr/>
        </p:nvSpPr>
        <p:spPr>
          <a:xfrm>
            <a:off x="11338560" y="3193999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Two-Regime Method</a:t>
            </a:r>
          </a:p>
        </p:txBody>
      </p:sp>
      <p:sp>
        <p:nvSpPr>
          <p:cNvPr id="38" name="Poster text 036"/>
          <p:cNvSpPr txBox="1"/>
          <p:nvPr/>
        </p:nvSpPr>
        <p:spPr>
          <a:xfrm>
            <a:off x="11430000" y="3895344"/>
            <a:ext cx="10058400" cy="1097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Group observations by their inputs, then fit an XGBoost specialist</a:t>
            </a:r>
          </a:p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02B35"/>
                </a:solidFill>
                <a:latin typeface="DejaVu Sans"/>
              </a:defRPr>
            </a:pPr>
            <a:r>
              <a:t>to each group's conditions.</a:t>
            </a:r>
          </a:p>
        </p:txBody>
      </p:sp>
      <p:sp>
        <p:nvSpPr>
          <p:cNvPr id="39" name="Poster box 037"/>
          <p:cNvSpPr/>
          <p:nvPr/>
        </p:nvSpPr>
        <p:spPr>
          <a:xfrm>
            <a:off x="11430000" y="5449824"/>
            <a:ext cx="3108960" cy="1389888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 w="12700">
            <a:solidFill>
              <a:srgbClr val="CE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oster text 038"/>
          <p:cNvSpPr txBox="1"/>
          <p:nvPr/>
        </p:nvSpPr>
        <p:spPr>
          <a:xfrm>
            <a:off x="11521440" y="5596128"/>
            <a:ext cx="292608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36875"/>
                </a:solidFill>
                <a:latin typeface="DejaVu Sans"/>
              </a:defRPr>
            </a:pPr>
            <a:r>
              <a:t>SATELLITE</a:t>
            </a:r>
          </a:p>
        </p:txBody>
      </p:sp>
      <p:sp>
        <p:nvSpPr>
          <p:cNvPr id="41" name="Poster text 039"/>
          <p:cNvSpPr txBox="1"/>
          <p:nvPr/>
        </p:nvSpPr>
        <p:spPr>
          <a:xfrm>
            <a:off x="11503152" y="6071616"/>
            <a:ext cx="2962656" cy="6309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Moisture, radar,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vegetation, heat</a:t>
            </a:r>
          </a:p>
        </p:txBody>
      </p:sp>
      <p:cxnSp>
        <p:nvCxnSpPr>
          <p:cNvPr id="42" name="Poster line 040"/>
          <p:cNvCxnSpPr/>
          <p:nvPr/>
        </p:nvCxnSpPr>
        <p:spPr>
          <a:xfrm>
            <a:off x="12984480" y="6894576"/>
            <a:ext cx="0" cy="402336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oster box 041"/>
          <p:cNvSpPr/>
          <p:nvPr/>
        </p:nvSpPr>
        <p:spPr>
          <a:xfrm>
            <a:off x="14904720" y="5449824"/>
            <a:ext cx="3108960" cy="1389888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 w="12700">
            <a:solidFill>
              <a:srgbClr val="CE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oster text 042"/>
          <p:cNvSpPr txBox="1"/>
          <p:nvPr/>
        </p:nvSpPr>
        <p:spPr>
          <a:xfrm>
            <a:off x="14996160" y="5596128"/>
            <a:ext cx="292608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36875"/>
                </a:solidFill>
                <a:latin typeface="DejaVu Sans"/>
              </a:defRPr>
            </a:pPr>
            <a:r>
              <a:t>WEATHER</a:t>
            </a:r>
          </a:p>
        </p:txBody>
      </p:sp>
      <p:sp>
        <p:nvSpPr>
          <p:cNvPr id="45" name="Poster text 043"/>
          <p:cNvSpPr txBox="1"/>
          <p:nvPr/>
        </p:nvSpPr>
        <p:spPr>
          <a:xfrm>
            <a:off x="14977872" y="6071616"/>
            <a:ext cx="2962656" cy="6309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Rainfall and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recent history</a:t>
            </a:r>
          </a:p>
        </p:txBody>
      </p:sp>
      <p:cxnSp>
        <p:nvCxnSpPr>
          <p:cNvPr id="46" name="Poster line 044"/>
          <p:cNvCxnSpPr/>
          <p:nvPr/>
        </p:nvCxnSpPr>
        <p:spPr>
          <a:xfrm>
            <a:off x="16459200" y="6894576"/>
            <a:ext cx="0" cy="402336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oster box 045"/>
          <p:cNvSpPr/>
          <p:nvPr/>
        </p:nvSpPr>
        <p:spPr>
          <a:xfrm>
            <a:off x="18379440" y="5449824"/>
            <a:ext cx="3108960" cy="1389888"/>
          </a:xfrm>
          <a:prstGeom prst="roundRect">
            <a:avLst>
              <a:gd name="adj" fmla="val 8000"/>
            </a:avLst>
          </a:prstGeom>
          <a:solidFill>
            <a:srgbClr val="F0F3F5"/>
          </a:solidFill>
          <a:ln w="12700">
            <a:solidFill>
              <a:srgbClr val="CE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Poster text 046"/>
          <p:cNvSpPr txBox="1"/>
          <p:nvPr/>
        </p:nvSpPr>
        <p:spPr>
          <a:xfrm>
            <a:off x="18470880" y="5596128"/>
            <a:ext cx="292608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36875"/>
                </a:solidFill>
                <a:latin typeface="DejaVu Sans"/>
              </a:defRPr>
            </a:pPr>
            <a:r>
              <a:t>SITE</a:t>
            </a:r>
          </a:p>
        </p:txBody>
      </p:sp>
      <p:sp>
        <p:nvSpPr>
          <p:cNvPr id="49" name="Poster text 047"/>
          <p:cNvSpPr txBox="1"/>
          <p:nvPr/>
        </p:nvSpPr>
        <p:spPr>
          <a:xfrm>
            <a:off x="18452592" y="6071616"/>
            <a:ext cx="2962656" cy="6309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Terrain, climate,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land cover</a:t>
            </a:r>
          </a:p>
        </p:txBody>
      </p:sp>
      <p:cxnSp>
        <p:nvCxnSpPr>
          <p:cNvPr id="50" name="Poster line 048"/>
          <p:cNvCxnSpPr/>
          <p:nvPr/>
        </p:nvCxnSpPr>
        <p:spPr>
          <a:xfrm>
            <a:off x="19933920" y="6894576"/>
            <a:ext cx="0" cy="402336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Poster line 049"/>
          <p:cNvCxnSpPr/>
          <p:nvPr/>
        </p:nvCxnSpPr>
        <p:spPr>
          <a:xfrm>
            <a:off x="12984480" y="7296912"/>
            <a:ext cx="6949440" cy="0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Poster line 050"/>
          <p:cNvCxnSpPr/>
          <p:nvPr/>
        </p:nvCxnSpPr>
        <p:spPr>
          <a:xfrm>
            <a:off x="16459200" y="7296912"/>
            <a:ext cx="0" cy="384048"/>
          </a:xfrm>
          <a:prstGeom prst="line">
            <a:avLst/>
          </a:prstGeom>
          <a:ln w="25400">
            <a:solidFill>
              <a:srgbClr val="919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oster box 051"/>
          <p:cNvSpPr/>
          <p:nvPr/>
        </p:nvSpPr>
        <p:spPr>
          <a:xfrm>
            <a:off x="12527280" y="7772400"/>
            <a:ext cx="7863840" cy="1417320"/>
          </a:xfrm>
          <a:prstGeom prst="roundRect">
            <a:avLst>
              <a:gd name="adj" fmla="val 8000"/>
            </a:avLst>
          </a:prstGeom>
          <a:solidFill>
            <a:srgbClr val="EEF2F4"/>
          </a:solidFill>
          <a:ln w="12700">
            <a:solidFill>
              <a:srgbClr val="92A2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oster text 052"/>
          <p:cNvSpPr txBox="1"/>
          <p:nvPr/>
        </p:nvSpPr>
        <p:spPr>
          <a:xfrm>
            <a:off x="12664440" y="7891272"/>
            <a:ext cx="7589520" cy="4297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02B35"/>
                </a:solidFill>
                <a:latin typeface="DejaVu Sans"/>
              </a:defRPr>
            </a:pPr>
            <a:r>
              <a:t>Feature-based grouping</a:t>
            </a:r>
          </a:p>
        </p:txBody>
      </p:sp>
      <p:sp>
        <p:nvSpPr>
          <p:cNvPr id="55" name="Poster text 053"/>
          <p:cNvSpPr txBox="1"/>
          <p:nvPr/>
        </p:nvSpPr>
        <p:spPr>
          <a:xfrm>
            <a:off x="12664440" y="8439912"/>
            <a:ext cx="7589520" cy="3566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K-means selects a specialist</a:t>
            </a:r>
          </a:p>
        </p:txBody>
      </p:sp>
      <p:cxnSp>
        <p:nvCxnSpPr>
          <p:cNvPr id="56" name="Poster line 054"/>
          <p:cNvCxnSpPr/>
          <p:nvPr/>
        </p:nvCxnSpPr>
        <p:spPr>
          <a:xfrm>
            <a:off x="16459200" y="9226296"/>
            <a:ext cx="0" cy="347472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Poster line 055"/>
          <p:cNvCxnSpPr/>
          <p:nvPr/>
        </p:nvCxnSpPr>
        <p:spPr>
          <a:xfrm>
            <a:off x="13807440" y="9573768"/>
            <a:ext cx="5303520" cy="0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Poster line 056"/>
          <p:cNvCxnSpPr/>
          <p:nvPr/>
        </p:nvCxnSpPr>
        <p:spPr>
          <a:xfrm>
            <a:off x="13807440" y="9573768"/>
            <a:ext cx="0" cy="411480"/>
          </a:xfrm>
          <a:prstGeom prst="line">
            <a:avLst/>
          </a:prstGeom>
          <a:ln w="38100">
            <a:solidFill>
              <a:srgbClr val="176E9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Poster line 057"/>
          <p:cNvCxnSpPr/>
          <p:nvPr/>
        </p:nvCxnSpPr>
        <p:spPr>
          <a:xfrm>
            <a:off x="19110960" y="9573768"/>
            <a:ext cx="0" cy="411480"/>
          </a:xfrm>
          <a:prstGeom prst="line">
            <a:avLst/>
          </a:prstGeom>
          <a:ln w="38100">
            <a:solidFill>
              <a:srgbClr val="B480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Poster box 058"/>
          <p:cNvSpPr/>
          <p:nvPr/>
        </p:nvSpPr>
        <p:spPr>
          <a:xfrm>
            <a:off x="11521440" y="10113264"/>
            <a:ext cx="4572000" cy="2011680"/>
          </a:xfrm>
          <a:prstGeom prst="roundRect">
            <a:avLst>
              <a:gd name="adj" fmla="val 8000"/>
            </a:avLst>
          </a:prstGeom>
          <a:solidFill>
            <a:srgbClr val="17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oster text 059"/>
          <p:cNvSpPr txBox="1"/>
          <p:nvPr/>
        </p:nvSpPr>
        <p:spPr>
          <a:xfrm>
            <a:off x="11658600" y="10287000"/>
            <a:ext cx="4297680" cy="4297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Specialist A</a:t>
            </a:r>
          </a:p>
        </p:txBody>
      </p:sp>
      <p:sp>
        <p:nvSpPr>
          <p:cNvPr id="62" name="Poster text 060"/>
          <p:cNvSpPr txBox="1"/>
          <p:nvPr/>
        </p:nvSpPr>
        <p:spPr>
          <a:xfrm>
            <a:off x="11658600" y="10917936"/>
            <a:ext cx="4297680" cy="7498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DejaVu Sans"/>
              </a:defRPr>
            </a:pPr>
            <a:r>
              <a:t>Wet / maritime</a:t>
            </a:r>
          </a:p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DejaVu Sans"/>
              </a:defRPr>
            </a:pPr>
            <a:r>
              <a:t>input conditions</a:t>
            </a:r>
          </a:p>
        </p:txBody>
      </p:sp>
      <p:sp>
        <p:nvSpPr>
          <p:cNvPr id="63" name="Poster text 061"/>
          <p:cNvSpPr txBox="1"/>
          <p:nvPr/>
        </p:nvSpPr>
        <p:spPr>
          <a:xfrm>
            <a:off x="11658600" y="11768328"/>
            <a:ext cx="429768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DejaVu Sans"/>
              </a:defRPr>
            </a:pPr>
            <a:r>
              <a:t>XGBoost regressor</a:t>
            </a:r>
          </a:p>
        </p:txBody>
      </p:sp>
      <p:sp>
        <p:nvSpPr>
          <p:cNvPr id="64" name="Poster box 062"/>
          <p:cNvSpPr/>
          <p:nvPr/>
        </p:nvSpPr>
        <p:spPr>
          <a:xfrm>
            <a:off x="16824960" y="10113264"/>
            <a:ext cx="4572000" cy="2011680"/>
          </a:xfrm>
          <a:prstGeom prst="roundRect">
            <a:avLst>
              <a:gd name="adj" fmla="val 8000"/>
            </a:avLst>
          </a:prstGeom>
          <a:solidFill>
            <a:srgbClr val="B4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oster text 063"/>
          <p:cNvSpPr txBox="1"/>
          <p:nvPr/>
        </p:nvSpPr>
        <p:spPr>
          <a:xfrm>
            <a:off x="16962119" y="10287000"/>
            <a:ext cx="4297680" cy="4297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Specialist B</a:t>
            </a:r>
          </a:p>
        </p:txBody>
      </p:sp>
      <p:sp>
        <p:nvSpPr>
          <p:cNvPr id="66" name="Poster text 064"/>
          <p:cNvSpPr txBox="1"/>
          <p:nvPr/>
        </p:nvSpPr>
        <p:spPr>
          <a:xfrm>
            <a:off x="16962119" y="10917936"/>
            <a:ext cx="4297680" cy="7498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DejaVu Sans"/>
              </a:defRPr>
            </a:pPr>
            <a:r>
              <a:t>Drier / seasonal</a:t>
            </a:r>
          </a:p>
          <a:p>
            <a:pPr algn="ctr">
              <a:lnSpc>
                <a:spcPts val="2832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FFFFF"/>
                </a:solidFill>
                <a:latin typeface="DejaVu Sans"/>
              </a:defRPr>
            </a:pPr>
            <a:r>
              <a:t>input conditions</a:t>
            </a:r>
          </a:p>
        </p:txBody>
      </p:sp>
      <p:sp>
        <p:nvSpPr>
          <p:cNvPr id="67" name="Poster text 065"/>
          <p:cNvSpPr txBox="1"/>
          <p:nvPr/>
        </p:nvSpPr>
        <p:spPr>
          <a:xfrm>
            <a:off x="16962119" y="11768328"/>
            <a:ext cx="429768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DejaVu Sans"/>
              </a:defRPr>
            </a:pPr>
            <a:r>
              <a:t>XGBoost regressor</a:t>
            </a:r>
          </a:p>
        </p:txBody>
      </p:sp>
      <p:cxnSp>
        <p:nvCxnSpPr>
          <p:cNvPr id="68" name="Poster line 066"/>
          <p:cNvCxnSpPr/>
          <p:nvPr/>
        </p:nvCxnSpPr>
        <p:spPr>
          <a:xfrm>
            <a:off x="13807440" y="12170664"/>
            <a:ext cx="0" cy="356616"/>
          </a:xfrm>
          <a:prstGeom prst="line">
            <a:avLst/>
          </a:prstGeom>
          <a:ln w="38100">
            <a:solidFill>
              <a:srgbClr val="176E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Poster line 067"/>
          <p:cNvCxnSpPr/>
          <p:nvPr/>
        </p:nvCxnSpPr>
        <p:spPr>
          <a:xfrm>
            <a:off x="19110960" y="12170664"/>
            <a:ext cx="0" cy="356616"/>
          </a:xfrm>
          <a:prstGeom prst="line">
            <a:avLst/>
          </a:prstGeom>
          <a:ln w="38100">
            <a:solidFill>
              <a:srgbClr val="B480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Poster line 068"/>
          <p:cNvCxnSpPr/>
          <p:nvPr/>
        </p:nvCxnSpPr>
        <p:spPr>
          <a:xfrm>
            <a:off x="13807440" y="12527280"/>
            <a:ext cx="5303520" cy="0"/>
          </a:xfrm>
          <a:prstGeom prst="line">
            <a:avLst/>
          </a:prstGeom>
          <a:ln w="25400">
            <a:solidFill>
              <a:srgbClr val="919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Poster line 069"/>
          <p:cNvCxnSpPr/>
          <p:nvPr/>
        </p:nvCxnSpPr>
        <p:spPr>
          <a:xfrm>
            <a:off x="16459200" y="12527280"/>
            <a:ext cx="0" cy="411480"/>
          </a:xfrm>
          <a:prstGeom prst="line">
            <a:avLst/>
          </a:prstGeom>
          <a:ln w="25400">
            <a:solidFill>
              <a:srgbClr val="919A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oster box 070"/>
          <p:cNvSpPr/>
          <p:nvPr/>
        </p:nvSpPr>
        <p:spPr>
          <a:xfrm>
            <a:off x="12344400" y="13030200"/>
            <a:ext cx="8229600" cy="1033271"/>
          </a:xfrm>
          <a:prstGeom prst="roundRect">
            <a:avLst>
              <a:gd name="adj" fmla="val 8000"/>
            </a:avLst>
          </a:prstGeom>
          <a:solidFill>
            <a:srgbClr val="202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oster text 071"/>
          <p:cNvSpPr txBox="1"/>
          <p:nvPr/>
        </p:nvSpPr>
        <p:spPr>
          <a:xfrm>
            <a:off x="12527280" y="13194792"/>
            <a:ext cx="7863840" cy="4480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Daily soil-moisture estimate</a:t>
            </a:r>
          </a:p>
        </p:txBody>
      </p:sp>
      <p:sp>
        <p:nvSpPr>
          <p:cNvPr id="74" name="Poster text 072"/>
          <p:cNvSpPr txBox="1"/>
          <p:nvPr/>
        </p:nvSpPr>
        <p:spPr>
          <a:xfrm>
            <a:off x="12527280" y="13725144"/>
            <a:ext cx="786384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DejaVu Sans"/>
              </a:defRPr>
            </a:pPr>
            <a:r>
              <a:t>One observation → one specialist → one estimate</a:t>
            </a:r>
          </a:p>
        </p:txBody>
      </p:sp>
      <p:sp>
        <p:nvSpPr>
          <p:cNvPr id="75" name="Poster text 073"/>
          <p:cNvSpPr txBox="1"/>
          <p:nvPr/>
        </p:nvSpPr>
        <p:spPr>
          <a:xfrm>
            <a:off x="11521440" y="14346936"/>
            <a:ext cx="9875520" cy="64922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Known stations keep one specialist; new stations are assigned using their</a:t>
            </a:r>
          </a:p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features.</a:t>
            </a:r>
          </a:p>
        </p:txBody>
      </p:sp>
      <p:sp>
        <p:nvSpPr>
          <p:cNvPr id="76" name="Poster text 074"/>
          <p:cNvSpPr txBox="1"/>
          <p:nvPr/>
        </p:nvSpPr>
        <p:spPr>
          <a:xfrm>
            <a:off x="11521440" y="15069312"/>
            <a:ext cx="9875520" cy="6309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36875"/>
                </a:solidFill>
                <a:latin typeface="DejaVu Sans"/>
              </a:defRPr>
            </a:pPr>
            <a:r>
              <a:t>Grouping uses no observed in-situ targets.</a:t>
            </a:r>
          </a:p>
        </p:txBody>
      </p:sp>
      <p:sp>
        <p:nvSpPr>
          <p:cNvPr id="77" name="What the Regimes Capture"/>
          <p:cNvSpPr/>
          <p:nvPr/>
        </p:nvSpPr>
        <p:spPr>
          <a:xfrm>
            <a:off x="11247120" y="15965424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oster text 076"/>
          <p:cNvSpPr txBox="1"/>
          <p:nvPr/>
        </p:nvSpPr>
        <p:spPr>
          <a:xfrm>
            <a:off x="11338560" y="15986455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What the Regimes Capture</a:t>
            </a:r>
          </a:p>
        </p:txBody>
      </p:sp>
      <p:sp>
        <p:nvSpPr>
          <p:cNvPr id="79" name="Poster box 077"/>
          <p:cNvSpPr/>
          <p:nvPr/>
        </p:nvSpPr>
        <p:spPr>
          <a:xfrm>
            <a:off x="11430000" y="16733520"/>
            <a:ext cx="4754880" cy="3236976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176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Poster box 078"/>
          <p:cNvSpPr/>
          <p:nvPr/>
        </p:nvSpPr>
        <p:spPr>
          <a:xfrm>
            <a:off x="11430000" y="16733520"/>
            <a:ext cx="4754880" cy="82296"/>
          </a:xfrm>
          <a:prstGeom prst="rect">
            <a:avLst/>
          </a:prstGeom>
          <a:solidFill>
            <a:srgbClr val="17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oster text 079"/>
          <p:cNvSpPr txBox="1"/>
          <p:nvPr/>
        </p:nvSpPr>
        <p:spPr>
          <a:xfrm>
            <a:off x="11594592" y="16943832"/>
            <a:ext cx="4425696" cy="4480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9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6E9B"/>
                </a:solidFill>
                <a:latin typeface="DejaVu Sans"/>
              </a:defRPr>
            </a:pPr>
            <a:r>
              <a:t>Wet / maritime</a:t>
            </a:r>
          </a:p>
        </p:txBody>
      </p:sp>
      <p:sp>
        <p:nvSpPr>
          <p:cNvPr id="82" name="Poster text 080"/>
          <p:cNvSpPr txBox="1"/>
          <p:nvPr/>
        </p:nvSpPr>
        <p:spPr>
          <a:xfrm>
            <a:off x="11594592" y="17501616"/>
            <a:ext cx="442569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B35"/>
                </a:solidFill>
                <a:latin typeface="DejaVu Sans"/>
              </a:defRPr>
            </a:pPr>
            <a:r>
              <a:t>5 training stations</a:t>
            </a:r>
          </a:p>
        </p:txBody>
      </p:sp>
      <p:sp>
        <p:nvSpPr>
          <p:cNvPr id="83" name="Poster text 081"/>
          <p:cNvSpPr txBox="1"/>
          <p:nvPr/>
        </p:nvSpPr>
        <p:spPr>
          <a:xfrm>
            <a:off x="11594592" y="18013680"/>
            <a:ext cx="4425696" cy="9418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Western Washington: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coastal and Cascade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conditions together.</a:t>
            </a:r>
          </a:p>
        </p:txBody>
      </p:sp>
      <p:sp>
        <p:nvSpPr>
          <p:cNvPr id="84" name="Poster text 082"/>
          <p:cNvSpPr txBox="1"/>
          <p:nvPr/>
        </p:nvSpPr>
        <p:spPr>
          <a:xfrm>
            <a:off x="11594592" y="19147536"/>
            <a:ext cx="4425696" cy="6766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202B35"/>
                </a:solidFill>
                <a:latin typeface="DejaVu Sans"/>
              </a:defRPr>
            </a:pPr>
            <a:r>
              <a:t>Wettest-month rain: 391 mm</a:t>
            </a:r>
          </a:p>
          <a:p>
            <a:pPr algn="ctr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202B35"/>
                </a:solidFill>
                <a:latin typeface="DejaVu Sans"/>
              </a:defRPr>
            </a:pPr>
            <a:r>
              <a:t>Satellite moisture: 0.414 m³/m³</a:t>
            </a:r>
          </a:p>
        </p:txBody>
      </p:sp>
      <p:sp>
        <p:nvSpPr>
          <p:cNvPr id="85" name="Poster box 083"/>
          <p:cNvSpPr/>
          <p:nvPr/>
        </p:nvSpPr>
        <p:spPr>
          <a:xfrm>
            <a:off x="16733520" y="16733520"/>
            <a:ext cx="4754880" cy="3236976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2700">
            <a:solidFill>
              <a:srgbClr val="B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oster box 084"/>
          <p:cNvSpPr/>
          <p:nvPr/>
        </p:nvSpPr>
        <p:spPr>
          <a:xfrm>
            <a:off x="16733520" y="16733520"/>
            <a:ext cx="4754880" cy="82296"/>
          </a:xfrm>
          <a:prstGeom prst="rect">
            <a:avLst/>
          </a:prstGeom>
          <a:solidFill>
            <a:srgbClr val="B48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oster text 085"/>
          <p:cNvSpPr txBox="1"/>
          <p:nvPr/>
        </p:nvSpPr>
        <p:spPr>
          <a:xfrm>
            <a:off x="16898112" y="16943832"/>
            <a:ext cx="4425696" cy="4480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9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B48024"/>
                </a:solidFill>
                <a:latin typeface="DejaVu Sans"/>
              </a:defRPr>
            </a:pPr>
            <a:r>
              <a:t>Drier / seasonal</a:t>
            </a:r>
          </a:p>
        </p:txBody>
      </p:sp>
      <p:sp>
        <p:nvSpPr>
          <p:cNvPr id="88" name="Poster text 086"/>
          <p:cNvSpPr txBox="1"/>
          <p:nvPr/>
        </p:nvSpPr>
        <p:spPr>
          <a:xfrm>
            <a:off x="16898112" y="17501616"/>
            <a:ext cx="4425696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02B35"/>
                </a:solidFill>
                <a:latin typeface="DejaVu Sans"/>
              </a:defRPr>
            </a:pPr>
            <a:r>
              <a:t>2 training stations</a:t>
            </a:r>
          </a:p>
        </p:txBody>
      </p:sp>
      <p:sp>
        <p:nvSpPr>
          <p:cNvPr id="89" name="Poster text 087"/>
          <p:cNvSpPr txBox="1"/>
          <p:nvPr/>
        </p:nvSpPr>
        <p:spPr>
          <a:xfrm>
            <a:off x="16898112" y="18013680"/>
            <a:ext cx="4425696" cy="9418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Eastern Washington: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less rain and lower</a:t>
            </a:r>
          </a:p>
          <a:p>
            <a:pPr algn="ctr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02B35"/>
                </a:solidFill>
                <a:latin typeface="DejaVu Sans"/>
              </a:defRPr>
            </a:pPr>
            <a:r>
              <a:t>satellite moisture.</a:t>
            </a:r>
          </a:p>
        </p:txBody>
      </p:sp>
      <p:sp>
        <p:nvSpPr>
          <p:cNvPr id="90" name="Poster text 088"/>
          <p:cNvSpPr txBox="1"/>
          <p:nvPr/>
        </p:nvSpPr>
        <p:spPr>
          <a:xfrm>
            <a:off x="16898112" y="19147536"/>
            <a:ext cx="4425696" cy="6766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202B35"/>
                </a:solidFill>
                <a:latin typeface="DejaVu Sans"/>
              </a:defRPr>
            </a:pPr>
            <a:r>
              <a:t>Wettest-month rain: 70 mm</a:t>
            </a:r>
          </a:p>
          <a:p>
            <a:pPr algn="ctr">
              <a:lnSpc>
                <a:spcPts val="2065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202B35"/>
                </a:solidFill>
                <a:latin typeface="DejaVu Sans"/>
              </a:defRPr>
            </a:pPr>
            <a:r>
              <a:t>Satellite moisture: 0.192 m³/m³</a:t>
            </a:r>
          </a:p>
        </p:txBody>
      </p:sp>
      <p:sp>
        <p:nvSpPr>
          <p:cNvPr id="91" name="Poster text 089"/>
          <p:cNvSpPr txBox="1"/>
          <p:nvPr/>
        </p:nvSpPr>
        <p:spPr>
          <a:xfrm>
            <a:off x="11475720" y="20217384"/>
            <a:ext cx="9966960" cy="8595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Group medians describe this Washington sample. Choose regime counts using</a:t>
            </a:r>
          </a:p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local data.</a:t>
            </a:r>
          </a:p>
        </p:txBody>
      </p:sp>
      <p:sp>
        <p:nvSpPr>
          <p:cNvPr id="92" name="Results"/>
          <p:cNvSpPr/>
          <p:nvPr/>
        </p:nvSpPr>
        <p:spPr>
          <a:xfrm>
            <a:off x="21991320" y="317296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Poster text 091"/>
          <p:cNvSpPr txBox="1"/>
          <p:nvPr/>
        </p:nvSpPr>
        <p:spPr>
          <a:xfrm>
            <a:off x="22082760" y="3193999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Results</a:t>
            </a:r>
          </a:p>
        </p:txBody>
      </p:sp>
      <p:sp>
        <p:nvSpPr>
          <p:cNvPr id="94" name="Poster text 092"/>
          <p:cNvSpPr txBox="1"/>
          <p:nvPr/>
        </p:nvSpPr>
        <p:spPr>
          <a:xfrm>
            <a:off x="22174200" y="3840480"/>
            <a:ext cx="4754880" cy="5852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C00000"/>
                </a:solidFill>
                <a:latin typeface="DejaVu Sans"/>
              </a:defRPr>
            </a:pPr>
            <a:r>
              <a:t>+0.0320 R²</a:t>
            </a:r>
          </a:p>
        </p:txBody>
      </p:sp>
      <p:sp>
        <p:nvSpPr>
          <p:cNvPr id="95" name="Poster text 093"/>
          <p:cNvSpPr txBox="1"/>
          <p:nvPr/>
        </p:nvSpPr>
        <p:spPr>
          <a:xfrm>
            <a:off x="22174200" y="4535424"/>
            <a:ext cx="4754880" cy="338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Later years</a:t>
            </a:r>
          </a:p>
        </p:txBody>
      </p:sp>
      <p:sp>
        <p:nvSpPr>
          <p:cNvPr id="96" name="Poster text 094"/>
          <p:cNvSpPr txBox="1"/>
          <p:nvPr/>
        </p:nvSpPr>
        <p:spPr>
          <a:xfrm>
            <a:off x="27477720" y="3840480"/>
            <a:ext cx="4754880" cy="58521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4011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C00000"/>
                </a:solidFill>
                <a:latin typeface="DejaVu Sans"/>
              </a:defRPr>
            </a:pPr>
            <a:r>
              <a:t>+0.0581 R²</a:t>
            </a:r>
          </a:p>
        </p:txBody>
      </p:sp>
      <p:sp>
        <p:nvSpPr>
          <p:cNvPr id="97" name="Poster text 095"/>
          <p:cNvSpPr txBox="1"/>
          <p:nvPr/>
        </p:nvSpPr>
        <p:spPr>
          <a:xfrm>
            <a:off x="27477720" y="4535424"/>
            <a:ext cx="4754880" cy="338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Held-out stations</a:t>
            </a:r>
          </a:p>
        </p:txBody>
      </p:sp>
      <p:pic>
        <p:nvPicPr>
          <p:cNvPr id="98" name="model_comparison" descr="model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19920" y="5184648"/>
            <a:ext cx="9966960" cy="2743200"/>
          </a:xfrm>
          <a:prstGeom prst="rect">
            <a:avLst/>
          </a:prstGeom>
        </p:spPr>
      </p:pic>
      <p:sp>
        <p:nvSpPr>
          <p:cNvPr id="99" name="Poster text 097"/>
          <p:cNvSpPr txBox="1"/>
          <p:nvPr/>
        </p:nvSpPr>
        <p:spPr>
          <a:xfrm>
            <a:off x="22219920" y="8211312"/>
            <a:ext cx="9966960" cy="8686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202B35"/>
                </a:solidFill>
                <a:latin typeface="DejaVu Sans"/>
              </a:defRPr>
            </a:pPr>
            <a:r>
              <a:t>Matched inputs and settings: 30 later-year runs; five per held-out station.</a:t>
            </a:r>
          </a:p>
          <a:p>
            <a:pPr algn="l">
              <a:lnSpc>
                <a:spcPts val="2301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202B35"/>
                </a:solidFill>
                <a:latin typeface="DejaVu Sans"/>
              </a:defRPr>
            </a:pPr>
            <a:r>
              <a:t>Two-regime R² leads in every later-year run.</a:t>
            </a:r>
          </a:p>
        </p:txBody>
      </p:sp>
      <p:sp>
        <p:nvSpPr>
          <p:cNvPr id="100" name="Poster text 098"/>
          <p:cNvSpPr txBox="1"/>
          <p:nvPr/>
        </p:nvSpPr>
        <p:spPr>
          <a:xfrm>
            <a:off x="22219920" y="9235440"/>
            <a:ext cx="9966960" cy="411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02B35"/>
                </a:solidFill>
                <a:latin typeface="DejaVu Sans"/>
              </a:defRPr>
            </a:pPr>
            <a:r>
              <a:t>Where does specialization help?</a:t>
            </a:r>
          </a:p>
        </p:txBody>
      </p:sp>
      <p:pic>
        <p:nvPicPr>
          <p:cNvPr id="101" name="held_out_station_effects" descr="held_out_station_eff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9920" y="9857232"/>
            <a:ext cx="9966960" cy="3246120"/>
          </a:xfrm>
          <a:prstGeom prst="rect">
            <a:avLst/>
          </a:prstGeom>
        </p:spPr>
      </p:pic>
      <p:sp>
        <p:nvSpPr>
          <p:cNvPr id="102" name="Poster text 100"/>
          <p:cNvSpPr txBox="1"/>
          <p:nvPr/>
        </p:nvSpPr>
        <p:spPr>
          <a:xfrm>
            <a:off x="22219920" y="13222224"/>
            <a:ext cx="9966960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Gains at four stations; losses at three. Eastern holdouts reduce representation of</a:t>
            </a:r>
          </a:p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the smaller regime.</a:t>
            </a:r>
          </a:p>
        </p:txBody>
      </p:sp>
      <p:sp>
        <p:nvSpPr>
          <p:cNvPr id="103" name="New Sensor Sites: Routing Matters"/>
          <p:cNvSpPr/>
          <p:nvPr/>
        </p:nvSpPr>
        <p:spPr>
          <a:xfrm>
            <a:off x="21991320" y="14164056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Poster text 102"/>
          <p:cNvSpPr txBox="1"/>
          <p:nvPr/>
        </p:nvSpPr>
        <p:spPr>
          <a:xfrm>
            <a:off x="22082760" y="14185087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New Sensor Sites: Routing Matters</a:t>
            </a:r>
          </a:p>
        </p:txBody>
      </p:sp>
      <p:sp>
        <p:nvSpPr>
          <p:cNvPr id="105" name="Poster text 103"/>
          <p:cNvSpPr txBox="1"/>
          <p:nvPr/>
        </p:nvSpPr>
        <p:spPr>
          <a:xfrm>
            <a:off x="22219920" y="14895576"/>
            <a:ext cx="9966960" cy="8321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Missing SMAP inputs triggered automatic routing based on available</a:t>
            </a:r>
          </a:p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02B35"/>
                </a:solidFill>
                <a:latin typeface="DejaVu Sans"/>
              </a:defRPr>
            </a:pPr>
            <a:r>
              <a:t>precipitation history at five new ECE sites.</a:t>
            </a:r>
          </a:p>
        </p:txBody>
      </p:sp>
      <p:pic>
        <p:nvPicPr>
          <p:cNvPr id="106" name="ece_routing" descr="ece_rout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9920" y="16002000"/>
            <a:ext cx="9966960" cy="1965960"/>
          </a:xfrm>
          <a:prstGeom prst="rect">
            <a:avLst/>
          </a:prstGeom>
        </p:spPr>
      </p:pic>
      <p:sp>
        <p:nvSpPr>
          <p:cNvPr id="107" name="Poster text 105"/>
          <p:cNvSpPr txBox="1"/>
          <p:nvPr/>
        </p:nvSpPr>
        <p:spPr>
          <a:xfrm>
            <a:off x="22219920" y="18150840"/>
            <a:ext cx="9966960" cy="9052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150 observations, July–August 2026; one fallback specialist. Full-season</a:t>
            </a:r>
          </a:p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02B35"/>
                </a:solidFill>
                <a:latin typeface="DejaVu Sans"/>
              </a:defRPr>
            </a:pPr>
            <a:r>
              <a:t>evaluation remains.</a:t>
            </a:r>
          </a:p>
        </p:txBody>
      </p:sp>
      <p:sp>
        <p:nvSpPr>
          <p:cNvPr id="108" name="Takeaways"/>
          <p:cNvSpPr/>
          <p:nvPr/>
        </p:nvSpPr>
        <p:spPr>
          <a:xfrm>
            <a:off x="21991320" y="19211544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 w="12700">
            <a:solidFill>
              <a:srgbClr val="176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Poster text 107"/>
          <p:cNvSpPr txBox="1"/>
          <p:nvPr/>
        </p:nvSpPr>
        <p:spPr>
          <a:xfrm>
            <a:off x="22082760" y="19232575"/>
            <a:ext cx="10241280" cy="4663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Takeaways</a:t>
            </a:r>
          </a:p>
        </p:txBody>
      </p:sp>
      <p:sp>
        <p:nvSpPr>
          <p:cNvPr id="110" name="Poster text 108"/>
          <p:cNvSpPr txBox="1"/>
          <p:nvPr/>
        </p:nvSpPr>
        <p:spPr>
          <a:xfrm>
            <a:off x="22219920" y="19924776"/>
            <a:ext cx="9966960" cy="103327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Specialization helps when routing is reliable and training sites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represent new conditions. Next: evaluate more stations and seasons</a:t>
            </a:r>
          </a:p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02B35"/>
                </a:solidFill>
                <a:latin typeface="DejaVu Sans"/>
              </a:defRPr>
            </a:pPr>
            <a:r>
              <a:t>with the ECE team's sensors.</a:t>
            </a:r>
          </a:p>
        </p:txBody>
      </p:sp>
      <p:cxnSp>
        <p:nvCxnSpPr>
          <p:cNvPr id="111" name="Poster line 109"/>
          <p:cNvCxnSpPr/>
          <p:nvPr/>
        </p:nvCxnSpPr>
        <p:spPr>
          <a:xfrm>
            <a:off x="502920" y="21232368"/>
            <a:ext cx="31912560" cy="0"/>
          </a:xfrm>
          <a:prstGeom prst="line">
            <a:avLst/>
          </a:prstGeom>
          <a:ln w="12700">
            <a:solidFill>
              <a:srgbClr val="CBD3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Sources and acknowledgment"/>
          <p:cNvSpPr txBox="1"/>
          <p:nvPr/>
        </p:nvSpPr>
        <p:spPr>
          <a:xfrm>
            <a:off x="640080" y="21314664"/>
            <a:ext cx="32004000" cy="4389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36875"/>
                </a:solidFill>
                <a:latin typeface="DejaVu Sans"/>
              </a:defRPr>
            </a:pPr>
            <a:r>
              <a:t>Sources: [1] Balkovec et al., IEEE AIIoT (2026), doi:10.1109/AIIoT68874.2026.11569136. [2] MDR Project, technical report 1.5 (2026).</a:t>
            </a:r>
          </a:p>
          <a:p>
            <a:pPr algn="l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36875"/>
                </a:solidFill>
                <a:latin typeface="DejaVu Sans"/>
              </a:defRPr>
            </a:pPr>
            <a:r>
              <a:t>In-situ data: NOAA USCRN and USDA ISMN SNOTEL. New sensor-site evaluation in collaboration with the Seattle University ECE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Two-Regime Models for Daily Soil-Moisture Estimation in Washington</dc:title>
  <dc:subject>Summer research showcase: Washington daily soil-moisture models</dc:subject>
  <dc:creator>[Author names]</dc:creator>
  <cp:keywords>soil moisture, Washington, two regimes, XGBoost, Seattle University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