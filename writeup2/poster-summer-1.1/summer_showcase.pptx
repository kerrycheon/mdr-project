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attle University monogram" descr="su_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1975104" cy="1817095"/>
          </a:xfrm>
          <a:prstGeom prst="rect">
            <a:avLst/>
          </a:prstGeom>
        </p:spPr>
      </p:pic>
      <p:pic>
        <p:nvPicPr>
          <p:cNvPr id="3" name="Seattle University college logo" descr="su_colle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0" y="694944"/>
            <a:ext cx="3886200" cy="1646939"/>
          </a:xfrm>
          <a:prstGeom prst="rect">
            <a:avLst/>
          </a:prstGeom>
        </p:spPr>
      </p:pic>
      <p:sp>
        <p:nvSpPr>
          <p:cNvPr id="4" name="Poster title"/>
          <p:cNvSpPr txBox="1"/>
          <p:nvPr/>
        </p:nvSpPr>
        <p:spPr>
          <a:xfrm>
            <a:off x="2971800" y="347472"/>
            <a:ext cx="25008840" cy="1490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5664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202B35"/>
                </a:solidFill>
                <a:latin typeface="DejaVu Sans"/>
              </a:defRPr>
            </a:pPr>
            <a:r>
              <a:t>Two-Regime Models for Daily Soil-Moisture</a:t>
            </a:r>
          </a:p>
          <a:p>
            <a:pPr algn="ctr">
              <a:lnSpc>
                <a:spcPts val="5664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202B35"/>
                </a:solidFill>
                <a:latin typeface="DejaVu Sans"/>
              </a:defRPr>
            </a:pPr>
            <a:r>
              <a:t>Estimation in Washington</a:t>
            </a:r>
          </a:p>
        </p:txBody>
      </p:sp>
      <p:sp>
        <p:nvSpPr>
          <p:cNvPr id="5" name="Editable author and mentor placeholders"/>
          <p:cNvSpPr txBox="1"/>
          <p:nvPr/>
        </p:nvSpPr>
        <p:spPr>
          <a:xfrm>
            <a:off x="2971800" y="1847088"/>
            <a:ext cx="25008840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[Author names] · Mentored by [Mentor name, credentials]</a:t>
            </a:r>
          </a:p>
        </p:txBody>
      </p:sp>
      <p:sp>
        <p:nvSpPr>
          <p:cNvPr id="6" name="Department affiliation"/>
          <p:cNvSpPr txBox="1"/>
          <p:nvPr/>
        </p:nvSpPr>
        <p:spPr>
          <a:xfrm>
            <a:off x="2971800" y="2304288"/>
            <a:ext cx="25008840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Department of Computer Science, Seattle University</a:t>
            </a:r>
          </a:p>
        </p:txBody>
      </p:sp>
      <p:sp>
        <p:nvSpPr>
          <p:cNvPr id="7" name="Poster text 005"/>
          <p:cNvSpPr txBox="1"/>
          <p:nvPr/>
        </p:nvSpPr>
        <p:spPr>
          <a:xfrm>
            <a:off x="2971800" y="2743200"/>
            <a:ext cx="25008840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97780"/>
                </a:solidFill>
                <a:latin typeface="DejaVu Sans"/>
              </a:defRPr>
            </a:pPr>
            <a:r>
              <a:t>Summer research showcase · 2026</a:t>
            </a:r>
          </a:p>
        </p:txBody>
      </p:sp>
      <p:sp>
        <p:nvSpPr>
          <p:cNvPr id="8" name="Background and research question"/>
          <p:cNvSpPr/>
          <p:nvPr/>
        </p:nvSpPr>
        <p:spPr>
          <a:xfrm>
            <a:off x="502920" y="317296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ster text 007"/>
          <p:cNvSpPr txBox="1"/>
          <p:nvPr/>
        </p:nvSpPr>
        <p:spPr>
          <a:xfrm>
            <a:off x="594360" y="3193999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Background and research question</a:t>
            </a:r>
          </a:p>
        </p:txBody>
      </p:sp>
      <p:sp>
        <p:nvSpPr>
          <p:cNvPr id="10" name="Poster text 008"/>
          <p:cNvSpPr txBox="1"/>
          <p:nvPr/>
        </p:nvSpPr>
        <p:spPr>
          <a:xfrm>
            <a:off x="685800" y="3831336"/>
            <a:ext cx="10058400" cy="4046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C00000"/>
                </a:solidFill>
                <a:latin typeface="DejaVu Sans"/>
              </a:defRPr>
            </a:pPr>
            <a:r>
              <a:t>Why soil moisture estimation?</a:t>
            </a:r>
          </a:p>
        </p:txBody>
      </p:sp>
      <p:sp>
        <p:nvSpPr>
          <p:cNvPr id="11" name="Poster text 009"/>
          <p:cNvSpPr txBox="1"/>
          <p:nvPr/>
        </p:nvSpPr>
        <p:spPr>
          <a:xfrm>
            <a:off x="685800" y="4437126"/>
            <a:ext cx="10058400" cy="131876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Soil moisture is the amount of water held in soil. Daily estimates help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with irrigation planning and drought monitoring. They show how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moisture changes after rain and during dry periods, including places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with few direct measurements.</a:t>
            </a:r>
          </a:p>
        </p:txBody>
      </p:sp>
      <p:sp>
        <p:nvSpPr>
          <p:cNvPr id="12" name="Poster text 010"/>
          <p:cNvSpPr txBox="1"/>
          <p:nvPr/>
        </p:nvSpPr>
        <p:spPr>
          <a:xfrm>
            <a:off x="685800" y="5865622"/>
            <a:ext cx="10058400" cy="164845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Ground sensors measure moisture at individual sites. Satellite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observations cover larger areas but are intermittent, with some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retrievals missing. We combine satellite, weather, and site data for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daily estimates. Earlier work produced the pipeline and a global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XGBoost model.</a:t>
            </a:r>
          </a:p>
        </p:txBody>
      </p:sp>
      <p:sp>
        <p:nvSpPr>
          <p:cNvPr id="13" name="Poster box 011"/>
          <p:cNvSpPr/>
          <p:nvPr/>
        </p:nvSpPr>
        <p:spPr>
          <a:xfrm>
            <a:off x="685800" y="7623810"/>
            <a:ext cx="10058400" cy="1322832"/>
          </a:xfrm>
          <a:prstGeom prst="roundRect">
            <a:avLst>
              <a:gd name="adj" fmla="val 8000"/>
            </a:avLst>
          </a:prstGeom>
          <a:solidFill>
            <a:srgbClr val="F5F1ED"/>
          </a:solidFill>
          <a:ln w="12700">
            <a:solidFill>
              <a:srgbClr val="DE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ster text 012"/>
          <p:cNvSpPr txBox="1"/>
          <p:nvPr/>
        </p:nvSpPr>
        <p:spPr>
          <a:xfrm>
            <a:off x="886968" y="7733538"/>
            <a:ext cx="9656064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DejaVu Sans"/>
              </a:defRPr>
            </a:pPr>
            <a:r>
              <a:t>Summer research question</a:t>
            </a:r>
          </a:p>
        </p:txBody>
      </p:sp>
      <p:sp>
        <p:nvSpPr>
          <p:cNvPr id="15" name="Poster text 013"/>
          <p:cNvSpPr txBox="1"/>
          <p:nvPr/>
        </p:nvSpPr>
        <p:spPr>
          <a:xfrm>
            <a:off x="886968" y="8126730"/>
            <a:ext cx="9656064" cy="719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2B35"/>
                </a:solidFill>
                <a:latin typeface="DejaVu Sans"/>
              </a:defRPr>
            </a:pPr>
            <a:r>
              <a:t>Can two specialists improve estimates across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2B35"/>
                </a:solidFill>
                <a:latin typeface="DejaVu Sans"/>
              </a:defRPr>
            </a:pPr>
            <a:r>
              <a:t>Washington's contrasting conditions?</a:t>
            </a:r>
          </a:p>
        </p:txBody>
      </p:sp>
      <p:sp>
        <p:nvSpPr>
          <p:cNvPr id="16" name="Poster text 014"/>
          <p:cNvSpPr txBox="1"/>
          <p:nvPr/>
        </p:nvSpPr>
        <p:spPr>
          <a:xfrm>
            <a:off x="685800" y="9147810"/>
            <a:ext cx="10058400" cy="9890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Our comparison uses the same evaluation conditions for both models.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For known stations, we fix a single specialist; tests at new sites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examine how missing satellite inputs affect assignment.</a:t>
            </a:r>
          </a:p>
        </p:txBody>
      </p:sp>
      <p:sp>
        <p:nvSpPr>
          <p:cNvPr id="17" name="Study area and data"/>
          <p:cNvSpPr/>
          <p:nvPr/>
        </p:nvSpPr>
        <p:spPr>
          <a:xfrm>
            <a:off x="502920" y="10246614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ster text 016"/>
          <p:cNvSpPr txBox="1"/>
          <p:nvPr/>
        </p:nvSpPr>
        <p:spPr>
          <a:xfrm>
            <a:off x="594360" y="10267645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Study area and data</a:t>
            </a:r>
          </a:p>
        </p:txBody>
      </p:sp>
      <p:pic>
        <p:nvPicPr>
          <p:cNvPr id="19" name="washington_stations" descr="washington_st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904982"/>
            <a:ext cx="6400800" cy="4114800"/>
          </a:xfrm>
          <a:prstGeom prst="rect">
            <a:avLst/>
          </a:prstGeom>
        </p:spPr>
      </p:pic>
      <p:sp>
        <p:nvSpPr>
          <p:cNvPr id="20" name="Poster text 018"/>
          <p:cNvSpPr txBox="1"/>
          <p:nvPr/>
        </p:nvSpPr>
        <p:spPr>
          <a:xfrm>
            <a:off x="7406640" y="11133582"/>
            <a:ext cx="33375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536875"/>
                </a:solidFill>
                <a:latin typeface="DejaVu Sans"/>
              </a:defRPr>
            </a:pPr>
            <a:r>
              <a:t>Regional contrast</a:t>
            </a:r>
          </a:p>
        </p:txBody>
      </p:sp>
      <p:sp>
        <p:nvSpPr>
          <p:cNvPr id="21" name="Study-area interpretation"/>
          <p:cNvSpPr txBox="1"/>
          <p:nvPr/>
        </p:nvSpPr>
        <p:spPr>
          <a:xfrm>
            <a:off x="7406640" y="11609070"/>
            <a:ext cx="3337560" cy="329691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Our stations span the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coast, Cascade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mountains, and drier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eastern Washington.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They let us study how soil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moisture relates to inputs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under different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conditions. Station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holdouts test whether the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models can estimate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moisture at a new site.</a:t>
            </a:r>
          </a:p>
        </p:txBody>
      </p:sp>
      <p:sp>
        <p:nvSpPr>
          <p:cNvPr id="22" name="Caption washington_stations"/>
          <p:cNvSpPr txBox="1"/>
          <p:nvPr/>
        </p:nvSpPr>
        <p:spPr>
          <a:xfrm>
            <a:off x="685800" y="15083790"/>
            <a:ext cx="10058400" cy="59943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Figure 1. The seven training stations and their fitted groups. Colors identify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station assignments, with no geographic boundaries implied.</a:t>
            </a:r>
          </a:p>
        </p:txBody>
      </p:sp>
      <p:sp>
        <p:nvSpPr>
          <p:cNvPr id="23" name="Poster text 021"/>
          <p:cNvSpPr txBox="1"/>
          <p:nvPr/>
        </p:nvSpPr>
        <p:spPr>
          <a:xfrm>
            <a:off x="685800" y="15811246"/>
            <a:ext cx="10058400" cy="23078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NOAA USCRN and SNOTEL stations provide measured soil moisture.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Satellite inputs include SMAP soil moisture, Sentinel-1 radar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backscatter from the land surface, and Sentinel-2 surface reflectance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and indices of vegetation greenness and canopy water content. We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also use MODIS land-surface temperature and vegetation indices,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ERA5-Land weather, and terrain, climate, land-cover, and soil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descriptors.</a:t>
            </a:r>
          </a:p>
        </p:txBody>
      </p:sp>
      <p:sp>
        <p:nvSpPr>
          <p:cNvPr id="24" name="Poster text 022"/>
          <p:cNvSpPr txBox="1"/>
          <p:nvPr/>
        </p:nvSpPr>
        <p:spPr>
          <a:xfrm>
            <a:off x="685800" y="18228818"/>
            <a:ext cx="10058400" cy="9890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The pipeline puts observations on a daily grid, fills gaps, smooths the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time series, and calculates features describing recent satellite readings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and weather.</a:t>
            </a:r>
          </a:p>
        </p:txBody>
      </p:sp>
      <p:sp>
        <p:nvSpPr>
          <p:cNvPr id="25" name="Poster box 023"/>
          <p:cNvSpPr/>
          <p:nvPr/>
        </p:nvSpPr>
        <p:spPr>
          <a:xfrm>
            <a:off x="731520" y="19327622"/>
            <a:ext cx="4663440" cy="932688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ster text 024"/>
          <p:cNvSpPr txBox="1"/>
          <p:nvPr/>
        </p:nvSpPr>
        <p:spPr>
          <a:xfrm>
            <a:off x="868680" y="19446494"/>
            <a:ext cx="4389120" cy="6675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2017 to 2022</a:t>
            </a:r>
          </a:p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Final fitting period</a:t>
            </a:r>
          </a:p>
        </p:txBody>
      </p:sp>
      <p:sp>
        <p:nvSpPr>
          <p:cNvPr id="27" name="Poster box 025"/>
          <p:cNvSpPr/>
          <p:nvPr/>
        </p:nvSpPr>
        <p:spPr>
          <a:xfrm>
            <a:off x="6035040" y="19327622"/>
            <a:ext cx="4663440" cy="932688"/>
          </a:xfrm>
          <a:prstGeom prst="roundRect">
            <a:avLst>
              <a:gd name="adj" fmla="val 8000"/>
            </a:avLst>
          </a:prstGeom>
          <a:solidFill>
            <a:srgbClr val="F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ster text 026"/>
          <p:cNvSpPr txBox="1"/>
          <p:nvPr/>
        </p:nvSpPr>
        <p:spPr>
          <a:xfrm>
            <a:off x="6172200" y="19446494"/>
            <a:ext cx="4389120" cy="6675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2023 to 2025</a:t>
            </a:r>
          </a:p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Later-year test</a:t>
            </a:r>
          </a:p>
        </p:txBody>
      </p:sp>
      <p:cxnSp>
        <p:nvCxnSpPr>
          <p:cNvPr id="29" name="Poster line 027"/>
          <p:cNvCxnSpPr/>
          <p:nvPr/>
        </p:nvCxnSpPr>
        <p:spPr>
          <a:xfrm>
            <a:off x="5522976" y="19793966"/>
            <a:ext cx="411480" cy="0"/>
          </a:xfrm>
          <a:prstGeom prst="line">
            <a:avLst/>
          </a:prstGeom>
          <a:ln w="25400">
            <a:solidFill>
              <a:srgbClr val="919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ster text 028"/>
          <p:cNvSpPr txBox="1"/>
          <p:nvPr/>
        </p:nvSpPr>
        <p:spPr>
          <a:xfrm>
            <a:off x="685800" y="20424902"/>
            <a:ext cx="10058400" cy="9890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Development uses 2017 to 2020 for training and 2021 to 2022 for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validation. The final fit combines both periods. We test later years and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refit without each station in turn to evaluate new Washington locations.</a:t>
            </a:r>
          </a:p>
        </p:txBody>
      </p:sp>
      <p:sp>
        <p:nvSpPr>
          <p:cNvPr id="31" name="Two-regime modeling"/>
          <p:cNvSpPr/>
          <p:nvPr/>
        </p:nvSpPr>
        <p:spPr>
          <a:xfrm>
            <a:off x="11247120" y="317296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ster text 030"/>
          <p:cNvSpPr txBox="1"/>
          <p:nvPr/>
        </p:nvSpPr>
        <p:spPr>
          <a:xfrm>
            <a:off x="11338560" y="3193999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Two-regime modeling</a:t>
            </a:r>
          </a:p>
        </p:txBody>
      </p:sp>
      <p:sp>
        <p:nvSpPr>
          <p:cNvPr id="33" name="Poster text 031"/>
          <p:cNvSpPr txBox="1"/>
          <p:nvPr/>
        </p:nvSpPr>
        <p:spPr>
          <a:xfrm>
            <a:off x="11430000" y="3831336"/>
            <a:ext cx="10058400" cy="131876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 global model learns one input-to-soil-moisture relationship from all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stations. We divide observations into two groups and fit an XGBoost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model to each. Each specialist predicts daily volumetric soil moisture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at 5 cm depth (m³/m³).</a:t>
            </a:r>
          </a:p>
        </p:txBody>
      </p:sp>
      <p:sp>
        <p:nvSpPr>
          <p:cNvPr id="34" name="Poster box 032"/>
          <p:cNvSpPr/>
          <p:nvPr/>
        </p:nvSpPr>
        <p:spPr>
          <a:xfrm>
            <a:off x="11430000" y="5259832"/>
            <a:ext cx="3108960" cy="1298448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 w="12700">
            <a:solidFill>
              <a:srgbClr val="CE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ster text 033"/>
          <p:cNvSpPr txBox="1"/>
          <p:nvPr/>
        </p:nvSpPr>
        <p:spPr>
          <a:xfrm>
            <a:off x="11521440" y="5342128"/>
            <a:ext cx="2926080" cy="30175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36875"/>
                </a:solidFill>
                <a:latin typeface="DejaVu Sans"/>
              </a:defRPr>
            </a:pPr>
            <a:r>
              <a:t>Satellite</a:t>
            </a:r>
          </a:p>
        </p:txBody>
      </p:sp>
      <p:sp>
        <p:nvSpPr>
          <p:cNvPr id="36" name="Poster text 034"/>
          <p:cNvSpPr txBox="1"/>
          <p:nvPr/>
        </p:nvSpPr>
        <p:spPr>
          <a:xfrm>
            <a:off x="11503152" y="5662168"/>
            <a:ext cx="2962656" cy="8686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Moisture, backscatter,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vegetation, land-surface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temperature</a:t>
            </a:r>
          </a:p>
        </p:txBody>
      </p:sp>
      <p:cxnSp>
        <p:nvCxnSpPr>
          <p:cNvPr id="37" name="Poster line 035"/>
          <p:cNvCxnSpPr/>
          <p:nvPr/>
        </p:nvCxnSpPr>
        <p:spPr>
          <a:xfrm>
            <a:off x="12984480" y="6594856"/>
            <a:ext cx="0" cy="155448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oster box 036"/>
          <p:cNvSpPr/>
          <p:nvPr/>
        </p:nvSpPr>
        <p:spPr>
          <a:xfrm>
            <a:off x="14904720" y="5259832"/>
            <a:ext cx="3108960" cy="1298448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 w="12700">
            <a:solidFill>
              <a:srgbClr val="CE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ster text 037"/>
          <p:cNvSpPr txBox="1"/>
          <p:nvPr/>
        </p:nvSpPr>
        <p:spPr>
          <a:xfrm>
            <a:off x="14996160" y="5342128"/>
            <a:ext cx="2926080" cy="30175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36875"/>
                </a:solidFill>
                <a:latin typeface="DejaVu Sans"/>
              </a:defRPr>
            </a:pPr>
            <a:r>
              <a:t>Weather</a:t>
            </a:r>
          </a:p>
        </p:txBody>
      </p:sp>
      <p:sp>
        <p:nvSpPr>
          <p:cNvPr id="40" name="Poster text 038"/>
          <p:cNvSpPr txBox="1"/>
          <p:nvPr/>
        </p:nvSpPr>
        <p:spPr>
          <a:xfrm>
            <a:off x="14977872" y="5662168"/>
            <a:ext cx="2962656" cy="8686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Rainfall totals and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recent rainfall history</a:t>
            </a:r>
          </a:p>
        </p:txBody>
      </p:sp>
      <p:cxnSp>
        <p:nvCxnSpPr>
          <p:cNvPr id="41" name="Poster line 039"/>
          <p:cNvCxnSpPr/>
          <p:nvPr/>
        </p:nvCxnSpPr>
        <p:spPr>
          <a:xfrm>
            <a:off x="16459200" y="6594856"/>
            <a:ext cx="0" cy="155448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oster box 040"/>
          <p:cNvSpPr/>
          <p:nvPr/>
        </p:nvSpPr>
        <p:spPr>
          <a:xfrm>
            <a:off x="18379440" y="5259832"/>
            <a:ext cx="3108960" cy="1298448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 w="12700">
            <a:solidFill>
              <a:srgbClr val="CE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ster text 041"/>
          <p:cNvSpPr txBox="1"/>
          <p:nvPr/>
        </p:nvSpPr>
        <p:spPr>
          <a:xfrm>
            <a:off x="18470880" y="5342128"/>
            <a:ext cx="2926080" cy="30175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36875"/>
                </a:solidFill>
                <a:latin typeface="DejaVu Sans"/>
              </a:defRPr>
            </a:pPr>
            <a:r>
              <a:t>Site properties</a:t>
            </a:r>
          </a:p>
        </p:txBody>
      </p:sp>
      <p:sp>
        <p:nvSpPr>
          <p:cNvPr id="44" name="Poster text 042"/>
          <p:cNvSpPr txBox="1"/>
          <p:nvPr/>
        </p:nvSpPr>
        <p:spPr>
          <a:xfrm>
            <a:off x="18452592" y="5662168"/>
            <a:ext cx="2962656" cy="8686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Terrain, climate,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land cover, soil</a:t>
            </a:r>
          </a:p>
        </p:txBody>
      </p:sp>
      <p:cxnSp>
        <p:nvCxnSpPr>
          <p:cNvPr id="45" name="Poster line 043"/>
          <p:cNvCxnSpPr/>
          <p:nvPr/>
        </p:nvCxnSpPr>
        <p:spPr>
          <a:xfrm>
            <a:off x="19933920" y="6594856"/>
            <a:ext cx="0" cy="155448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Poster line 044"/>
          <p:cNvCxnSpPr/>
          <p:nvPr/>
        </p:nvCxnSpPr>
        <p:spPr>
          <a:xfrm>
            <a:off x="12984480" y="6750304"/>
            <a:ext cx="6949440" cy="0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oster line 045"/>
          <p:cNvCxnSpPr/>
          <p:nvPr/>
        </p:nvCxnSpPr>
        <p:spPr>
          <a:xfrm>
            <a:off x="16459200" y="6750304"/>
            <a:ext cx="0" cy="137160"/>
          </a:xfrm>
          <a:prstGeom prst="line">
            <a:avLst/>
          </a:prstGeom>
          <a:ln w="25400">
            <a:solidFill>
              <a:srgbClr val="919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Poster box 046"/>
          <p:cNvSpPr/>
          <p:nvPr/>
        </p:nvSpPr>
        <p:spPr>
          <a:xfrm>
            <a:off x="12070080" y="6924040"/>
            <a:ext cx="8778240" cy="1024128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 w="12700">
            <a:solidFill>
              <a:srgbClr val="92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oster text 047"/>
          <p:cNvSpPr txBox="1"/>
          <p:nvPr/>
        </p:nvSpPr>
        <p:spPr>
          <a:xfrm>
            <a:off x="12207240" y="7006336"/>
            <a:ext cx="8503920" cy="3931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02B35"/>
                </a:solidFill>
                <a:latin typeface="DejaVu Sans"/>
              </a:defRPr>
            </a:pPr>
            <a:r>
              <a:t>Feature-based grouping</a:t>
            </a:r>
          </a:p>
        </p:txBody>
      </p:sp>
      <p:sp>
        <p:nvSpPr>
          <p:cNvPr id="50" name="Poster text 048"/>
          <p:cNvSpPr txBox="1"/>
          <p:nvPr/>
        </p:nvSpPr>
        <p:spPr>
          <a:xfrm>
            <a:off x="12207240" y="7445248"/>
            <a:ext cx="8503920" cy="338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Standardize → K-means → fixed groups for known stations</a:t>
            </a:r>
          </a:p>
        </p:txBody>
      </p:sp>
      <p:cxnSp>
        <p:nvCxnSpPr>
          <p:cNvPr id="51" name="Poster line 049"/>
          <p:cNvCxnSpPr/>
          <p:nvPr/>
        </p:nvCxnSpPr>
        <p:spPr>
          <a:xfrm>
            <a:off x="16459200" y="7993888"/>
            <a:ext cx="0" cy="219456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Poster line 050"/>
          <p:cNvCxnSpPr/>
          <p:nvPr/>
        </p:nvCxnSpPr>
        <p:spPr>
          <a:xfrm>
            <a:off x="13807440" y="8213344"/>
            <a:ext cx="5303520" cy="0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Poster line 051"/>
          <p:cNvCxnSpPr/>
          <p:nvPr/>
        </p:nvCxnSpPr>
        <p:spPr>
          <a:xfrm>
            <a:off x="13807440" y="8213344"/>
            <a:ext cx="0" cy="219456"/>
          </a:xfrm>
          <a:prstGeom prst="line">
            <a:avLst/>
          </a:prstGeom>
          <a:ln w="38100">
            <a:solidFill>
              <a:srgbClr val="176E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oster box 052"/>
          <p:cNvSpPr/>
          <p:nvPr/>
        </p:nvSpPr>
        <p:spPr>
          <a:xfrm>
            <a:off x="11521440" y="8469376"/>
            <a:ext cx="4572000" cy="1179576"/>
          </a:xfrm>
          <a:prstGeom prst="roundRect">
            <a:avLst>
              <a:gd name="adj" fmla="val 8000"/>
            </a:avLst>
          </a:prstGeom>
          <a:solidFill>
            <a:srgbClr val="17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oster text 053"/>
          <p:cNvSpPr txBox="1"/>
          <p:nvPr/>
        </p:nvSpPr>
        <p:spPr>
          <a:xfrm>
            <a:off x="11631168" y="8569960"/>
            <a:ext cx="435254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Specialist A</a:t>
            </a:r>
          </a:p>
        </p:txBody>
      </p:sp>
      <p:sp>
        <p:nvSpPr>
          <p:cNvPr id="56" name="Poster text 054"/>
          <p:cNvSpPr txBox="1"/>
          <p:nvPr/>
        </p:nvSpPr>
        <p:spPr>
          <a:xfrm>
            <a:off x="11631168" y="8999728"/>
            <a:ext cx="4352544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DejaVu Sans"/>
              </a:defRPr>
            </a:pPr>
            <a:r>
              <a:t>Wet / Mountains</a:t>
            </a:r>
          </a:p>
        </p:txBody>
      </p:sp>
      <p:sp>
        <p:nvSpPr>
          <p:cNvPr id="57" name="Poster text 055"/>
          <p:cNvSpPr txBox="1"/>
          <p:nvPr/>
        </p:nvSpPr>
        <p:spPr>
          <a:xfrm>
            <a:off x="11631168" y="9356344"/>
            <a:ext cx="4352544" cy="26517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DejaVu Sans"/>
              </a:defRPr>
            </a:pPr>
            <a:r>
              <a:t>XGBoost regressor</a:t>
            </a:r>
          </a:p>
        </p:txBody>
      </p:sp>
      <p:cxnSp>
        <p:nvCxnSpPr>
          <p:cNvPr id="58" name="Poster line 056"/>
          <p:cNvCxnSpPr/>
          <p:nvPr/>
        </p:nvCxnSpPr>
        <p:spPr>
          <a:xfrm>
            <a:off x="13807440" y="9685528"/>
            <a:ext cx="0" cy="201168"/>
          </a:xfrm>
          <a:prstGeom prst="line">
            <a:avLst/>
          </a:prstGeom>
          <a:ln w="38100">
            <a:solidFill>
              <a:srgbClr val="17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oster line 057"/>
          <p:cNvCxnSpPr/>
          <p:nvPr/>
        </p:nvCxnSpPr>
        <p:spPr>
          <a:xfrm>
            <a:off x="19110960" y="8213344"/>
            <a:ext cx="0" cy="219456"/>
          </a:xfrm>
          <a:prstGeom prst="line">
            <a:avLst/>
          </a:prstGeom>
          <a:ln w="38100">
            <a:solidFill>
              <a:srgbClr val="B480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Poster box 058"/>
          <p:cNvSpPr/>
          <p:nvPr/>
        </p:nvSpPr>
        <p:spPr>
          <a:xfrm>
            <a:off x="16824960" y="8469376"/>
            <a:ext cx="4572000" cy="1179576"/>
          </a:xfrm>
          <a:prstGeom prst="roundRect">
            <a:avLst>
              <a:gd name="adj" fmla="val 8000"/>
            </a:avLst>
          </a:prstGeom>
          <a:solidFill>
            <a:srgbClr val="B4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oster text 059"/>
          <p:cNvSpPr txBox="1"/>
          <p:nvPr/>
        </p:nvSpPr>
        <p:spPr>
          <a:xfrm>
            <a:off x="16934688" y="8569960"/>
            <a:ext cx="435254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Specialist B</a:t>
            </a:r>
          </a:p>
        </p:txBody>
      </p:sp>
      <p:sp>
        <p:nvSpPr>
          <p:cNvPr id="62" name="Poster text 060"/>
          <p:cNvSpPr txBox="1"/>
          <p:nvPr/>
        </p:nvSpPr>
        <p:spPr>
          <a:xfrm>
            <a:off x="16934688" y="8999728"/>
            <a:ext cx="4352544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DejaVu Sans"/>
              </a:defRPr>
            </a:pPr>
            <a:r>
              <a:t>Drier / Lowlands</a:t>
            </a:r>
          </a:p>
        </p:txBody>
      </p:sp>
      <p:sp>
        <p:nvSpPr>
          <p:cNvPr id="63" name="Poster text 061"/>
          <p:cNvSpPr txBox="1"/>
          <p:nvPr/>
        </p:nvSpPr>
        <p:spPr>
          <a:xfrm>
            <a:off x="16934688" y="9356344"/>
            <a:ext cx="4352544" cy="26517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DejaVu Sans"/>
              </a:defRPr>
            </a:pPr>
            <a:r>
              <a:t>XGBoost regressor</a:t>
            </a:r>
          </a:p>
        </p:txBody>
      </p:sp>
      <p:cxnSp>
        <p:nvCxnSpPr>
          <p:cNvPr id="64" name="Poster line 062"/>
          <p:cNvCxnSpPr/>
          <p:nvPr/>
        </p:nvCxnSpPr>
        <p:spPr>
          <a:xfrm>
            <a:off x="19110960" y="9685528"/>
            <a:ext cx="0" cy="201168"/>
          </a:xfrm>
          <a:prstGeom prst="line">
            <a:avLst/>
          </a:prstGeom>
          <a:ln w="38100">
            <a:solidFill>
              <a:srgbClr val="B48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oster line 063"/>
          <p:cNvCxnSpPr/>
          <p:nvPr/>
        </p:nvCxnSpPr>
        <p:spPr>
          <a:xfrm>
            <a:off x="13807440" y="9886696"/>
            <a:ext cx="5303520" cy="0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Poster line 064"/>
          <p:cNvCxnSpPr/>
          <p:nvPr/>
        </p:nvCxnSpPr>
        <p:spPr>
          <a:xfrm>
            <a:off x="16459200" y="9886696"/>
            <a:ext cx="0" cy="173736"/>
          </a:xfrm>
          <a:prstGeom prst="line">
            <a:avLst/>
          </a:prstGeom>
          <a:ln w="25400">
            <a:solidFill>
              <a:srgbClr val="919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Poster box 065"/>
          <p:cNvSpPr/>
          <p:nvPr/>
        </p:nvSpPr>
        <p:spPr>
          <a:xfrm>
            <a:off x="12070080" y="10097008"/>
            <a:ext cx="8778240" cy="978408"/>
          </a:xfrm>
          <a:prstGeom prst="roundRect">
            <a:avLst>
              <a:gd name="adj" fmla="val 8000"/>
            </a:avLst>
          </a:prstGeom>
          <a:solidFill>
            <a:srgbClr val="20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oster text 066"/>
          <p:cNvSpPr txBox="1"/>
          <p:nvPr/>
        </p:nvSpPr>
        <p:spPr>
          <a:xfrm>
            <a:off x="12207240" y="10170160"/>
            <a:ext cx="8503920" cy="3749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9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Daily soil-moisture estimate</a:t>
            </a:r>
          </a:p>
        </p:txBody>
      </p:sp>
      <p:sp>
        <p:nvSpPr>
          <p:cNvPr id="69" name="Editable hard-routing equation"/>
          <p:cNvSpPr txBox="1"/>
          <p:nvPr/>
        </p:nvSpPr>
        <p:spPr>
          <a:xfrm>
            <a:off x="12207240" y="10636504"/>
            <a:ext cx="850392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DejaVu Sans"/>
              </a:defRPr>
            </a:pPr>
            <a:r>
              <a:t>ŷ = fᵣ(x), r = g(s, x) ∈ {A, B}</a:t>
            </a:r>
          </a:p>
        </p:txBody>
      </p:sp>
      <p:sp>
        <p:nvSpPr>
          <p:cNvPr id="70" name="Poster text 068"/>
          <p:cNvSpPr txBox="1"/>
          <p:nvPr/>
        </p:nvSpPr>
        <p:spPr>
          <a:xfrm>
            <a:off x="11430000" y="11185144"/>
            <a:ext cx="10058400" cy="59943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Figure 2. Each observation uses one specialist. x denotes the inputs, s the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station, g the assignment rule, and fᵣ the selected model.</a:t>
            </a:r>
          </a:p>
        </p:txBody>
      </p:sp>
      <p:sp>
        <p:nvSpPr>
          <p:cNvPr id="71" name="Poster text 069"/>
          <p:cNvSpPr txBox="1"/>
          <p:nvPr/>
        </p:nvSpPr>
        <p:spPr>
          <a:xfrm>
            <a:off x="11430000" y="11894312"/>
            <a:ext cx="10058400" cy="131876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1. We fill missing router inputs with their fitting-data means and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standardize features to comparable scales. K-means finds two cluster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centers; a new observation goes to the nearest center. The router uses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inputs alone, without measured target labels.</a:t>
            </a:r>
          </a:p>
        </p:txBody>
      </p:sp>
      <p:sp>
        <p:nvSpPr>
          <p:cNvPr id="72" name="Poster text 070"/>
          <p:cNvSpPr txBox="1"/>
          <p:nvPr/>
        </p:nvSpPr>
        <p:spPr>
          <a:xfrm>
            <a:off x="11430000" y="13322808"/>
            <a:ext cx="10058400" cy="9890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2. For a station included in fitting, its most common group selects one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specialist for all its observations. New stations receive an assignment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each day. Missing routing inputs can trigger the precipitation fallback.</a:t>
            </a:r>
          </a:p>
        </p:txBody>
      </p:sp>
      <p:sp>
        <p:nvSpPr>
          <p:cNvPr id="73" name="Poster text 071"/>
          <p:cNvSpPr txBox="1"/>
          <p:nvPr/>
        </p:nvSpPr>
        <p:spPr>
          <a:xfrm>
            <a:off x="11430000" y="14421612"/>
            <a:ext cx="10058400" cy="164845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3. Both approaches use identical features, XGBoost settings,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evaluation observations, and random seeds. Each specialist trains on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its assigned group. Seeds control training randomness; repeated fits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measure training variation, leaving uncertainty across new sites and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seasons unmeasured.</a:t>
            </a:r>
          </a:p>
        </p:txBody>
      </p:sp>
      <p:sp>
        <p:nvSpPr>
          <p:cNvPr id="74" name="Regime interpretation"/>
          <p:cNvSpPr/>
          <p:nvPr/>
        </p:nvSpPr>
        <p:spPr>
          <a:xfrm>
            <a:off x="11247120" y="16179799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oster text 073"/>
          <p:cNvSpPr txBox="1"/>
          <p:nvPr/>
        </p:nvSpPr>
        <p:spPr>
          <a:xfrm>
            <a:off x="11338560" y="16200831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Regime interpretation</a:t>
            </a:r>
          </a:p>
        </p:txBody>
      </p:sp>
      <p:sp>
        <p:nvSpPr>
          <p:cNvPr id="76" name="Poster box 074"/>
          <p:cNvSpPr/>
          <p:nvPr/>
        </p:nvSpPr>
        <p:spPr>
          <a:xfrm>
            <a:off x="11430000" y="16838167"/>
            <a:ext cx="4754880" cy="2587752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17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oster box 075"/>
          <p:cNvSpPr/>
          <p:nvPr/>
        </p:nvSpPr>
        <p:spPr>
          <a:xfrm>
            <a:off x="11430000" y="16838167"/>
            <a:ext cx="4754880" cy="64008"/>
          </a:xfrm>
          <a:prstGeom prst="rect">
            <a:avLst/>
          </a:prstGeom>
          <a:solidFill>
            <a:srgbClr val="17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oster text 076"/>
          <p:cNvSpPr txBox="1"/>
          <p:nvPr/>
        </p:nvSpPr>
        <p:spPr>
          <a:xfrm>
            <a:off x="11594592" y="17002759"/>
            <a:ext cx="442569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E9B"/>
                </a:solidFill>
                <a:latin typeface="DejaVu Sans"/>
              </a:defRPr>
            </a:pPr>
            <a:r>
              <a:t>Wet / Mountains</a:t>
            </a:r>
          </a:p>
        </p:txBody>
      </p:sp>
      <p:sp>
        <p:nvSpPr>
          <p:cNvPr id="79" name="Poster text 077"/>
          <p:cNvSpPr txBox="1"/>
          <p:nvPr/>
        </p:nvSpPr>
        <p:spPr>
          <a:xfrm>
            <a:off x="11594592" y="17432527"/>
            <a:ext cx="4425696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B35"/>
                </a:solidFill>
                <a:latin typeface="DejaVu Sans"/>
              </a:defRPr>
            </a:pPr>
            <a:r>
              <a:t>5 training stations</a:t>
            </a:r>
          </a:p>
        </p:txBody>
      </p:sp>
      <p:sp>
        <p:nvSpPr>
          <p:cNvPr id="80" name="Poster text 078"/>
          <p:cNvSpPr txBox="1"/>
          <p:nvPr/>
        </p:nvSpPr>
        <p:spPr>
          <a:xfrm>
            <a:off x="11594592" y="17834863"/>
            <a:ext cx="4425696" cy="9235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Western and Cascade sites: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more rain and higher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SMAP soil moisture.</a:t>
            </a:r>
          </a:p>
        </p:txBody>
      </p:sp>
      <p:sp>
        <p:nvSpPr>
          <p:cNvPr id="81" name="Poster text 079"/>
          <p:cNvSpPr txBox="1"/>
          <p:nvPr/>
        </p:nvSpPr>
        <p:spPr>
          <a:xfrm>
            <a:off x="11594592" y="18740119"/>
            <a:ext cx="4425696" cy="5760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B35"/>
                </a:solidFill>
                <a:latin typeface="DejaVu Sans"/>
              </a:defRPr>
            </a:pPr>
            <a:r>
              <a:t>Wettest-month rain: 391 mm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B35"/>
                </a:solidFill>
                <a:latin typeface="DejaVu Sans"/>
              </a:defRPr>
            </a:pPr>
            <a:r>
              <a:t>SMAP soil moisture: 0.414 m³/m³</a:t>
            </a:r>
          </a:p>
        </p:txBody>
      </p:sp>
      <p:sp>
        <p:nvSpPr>
          <p:cNvPr id="82" name="Poster box 080"/>
          <p:cNvSpPr/>
          <p:nvPr/>
        </p:nvSpPr>
        <p:spPr>
          <a:xfrm>
            <a:off x="16733520" y="16838167"/>
            <a:ext cx="4754880" cy="2587752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B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oster box 081"/>
          <p:cNvSpPr/>
          <p:nvPr/>
        </p:nvSpPr>
        <p:spPr>
          <a:xfrm>
            <a:off x="16733520" y="16838167"/>
            <a:ext cx="4754880" cy="64008"/>
          </a:xfrm>
          <a:prstGeom prst="rect">
            <a:avLst/>
          </a:prstGeom>
          <a:solidFill>
            <a:srgbClr val="B4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oster text 082"/>
          <p:cNvSpPr txBox="1"/>
          <p:nvPr/>
        </p:nvSpPr>
        <p:spPr>
          <a:xfrm>
            <a:off x="16898112" y="17002759"/>
            <a:ext cx="442569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B48024"/>
                </a:solidFill>
                <a:latin typeface="DejaVu Sans"/>
              </a:defRPr>
            </a:pPr>
            <a:r>
              <a:t>Drier / Lowlands</a:t>
            </a:r>
          </a:p>
        </p:txBody>
      </p:sp>
      <p:sp>
        <p:nvSpPr>
          <p:cNvPr id="85" name="Poster text 083"/>
          <p:cNvSpPr txBox="1"/>
          <p:nvPr/>
        </p:nvSpPr>
        <p:spPr>
          <a:xfrm>
            <a:off x="16898112" y="17432527"/>
            <a:ext cx="4425696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B35"/>
                </a:solidFill>
                <a:latin typeface="DejaVu Sans"/>
              </a:defRPr>
            </a:pPr>
            <a:r>
              <a:t>2 training stations</a:t>
            </a:r>
          </a:p>
        </p:txBody>
      </p:sp>
      <p:sp>
        <p:nvSpPr>
          <p:cNvPr id="86" name="Poster text 084"/>
          <p:cNvSpPr txBox="1"/>
          <p:nvPr/>
        </p:nvSpPr>
        <p:spPr>
          <a:xfrm>
            <a:off x="16898112" y="17834863"/>
            <a:ext cx="4425696" cy="9235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Spokane and Sourdough Gulch: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less rain and lower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SMAP soil moisture.</a:t>
            </a:r>
          </a:p>
        </p:txBody>
      </p:sp>
      <p:sp>
        <p:nvSpPr>
          <p:cNvPr id="87" name="Poster text 085"/>
          <p:cNvSpPr txBox="1"/>
          <p:nvPr/>
        </p:nvSpPr>
        <p:spPr>
          <a:xfrm>
            <a:off x="16898112" y="18740119"/>
            <a:ext cx="4425696" cy="5760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B35"/>
                </a:solidFill>
                <a:latin typeface="DejaVu Sans"/>
              </a:defRPr>
            </a:pPr>
            <a:r>
              <a:t>Wettest-month rain: 70 mm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B35"/>
                </a:solidFill>
                <a:latin typeface="DejaVu Sans"/>
              </a:defRPr>
            </a:pPr>
            <a:r>
              <a:t>SMAP soil moisture: 0.192 m³/m³</a:t>
            </a:r>
          </a:p>
        </p:txBody>
      </p:sp>
      <p:sp>
        <p:nvSpPr>
          <p:cNvPr id="88" name="Poster text 086"/>
          <p:cNvSpPr txBox="1"/>
          <p:nvPr/>
        </p:nvSpPr>
        <p:spPr>
          <a:xfrm>
            <a:off x="11430000" y="19590511"/>
            <a:ext cx="10058400" cy="164845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The groups differ mainly in rainfall and SMAP soil moisture. The wetter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group includes lowland and mountain stations, so elevation alone does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not distinguish them. Values above are input-data medians. Two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groups worked for these stations; other deployments should choose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their group count using local data.</a:t>
            </a:r>
          </a:p>
        </p:txBody>
      </p:sp>
      <p:sp>
        <p:nvSpPr>
          <p:cNvPr id="89" name="Evaluation and results"/>
          <p:cNvSpPr/>
          <p:nvPr/>
        </p:nvSpPr>
        <p:spPr>
          <a:xfrm>
            <a:off x="21991320" y="317296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oster text 088"/>
          <p:cNvSpPr txBox="1"/>
          <p:nvPr/>
        </p:nvSpPr>
        <p:spPr>
          <a:xfrm>
            <a:off x="22082760" y="3193999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Evaluation and results</a:t>
            </a:r>
          </a:p>
        </p:txBody>
      </p:sp>
      <p:sp>
        <p:nvSpPr>
          <p:cNvPr id="91" name="Poster text 089"/>
          <p:cNvSpPr txBox="1"/>
          <p:nvPr/>
        </p:nvSpPr>
        <p:spPr>
          <a:xfrm>
            <a:off x="22174200" y="3831336"/>
            <a:ext cx="4754880" cy="5120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77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0000"/>
                </a:solidFill>
                <a:latin typeface="DejaVu Sans"/>
              </a:defRPr>
            </a:pPr>
            <a:r>
              <a:t>+0.0320</a:t>
            </a:r>
          </a:p>
        </p:txBody>
      </p:sp>
      <p:sp>
        <p:nvSpPr>
          <p:cNvPr id="92" name="Poster text 090"/>
          <p:cNvSpPr txBox="1"/>
          <p:nvPr/>
        </p:nvSpPr>
        <p:spPr>
          <a:xfrm>
            <a:off x="22174200" y="4389120"/>
            <a:ext cx="475488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Later-year R² gain</a:t>
            </a:r>
          </a:p>
        </p:txBody>
      </p:sp>
      <p:sp>
        <p:nvSpPr>
          <p:cNvPr id="93" name="Poster text 091"/>
          <p:cNvSpPr txBox="1"/>
          <p:nvPr/>
        </p:nvSpPr>
        <p:spPr>
          <a:xfrm>
            <a:off x="27477720" y="3831336"/>
            <a:ext cx="4754880" cy="5120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77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0000"/>
                </a:solidFill>
                <a:latin typeface="DejaVu Sans"/>
              </a:defRPr>
            </a:pPr>
            <a:r>
              <a:t>+0.0581</a:t>
            </a:r>
          </a:p>
        </p:txBody>
      </p:sp>
      <p:sp>
        <p:nvSpPr>
          <p:cNvPr id="94" name="Poster text 092"/>
          <p:cNvSpPr txBox="1"/>
          <p:nvPr/>
        </p:nvSpPr>
        <p:spPr>
          <a:xfrm>
            <a:off x="27477720" y="4389120"/>
            <a:ext cx="475488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Station-holdout R² gain</a:t>
            </a:r>
          </a:p>
        </p:txBody>
      </p:sp>
      <p:pic>
        <p:nvPicPr>
          <p:cNvPr id="95" name="model_comparison" descr="model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9920" y="4800600"/>
            <a:ext cx="9966960" cy="2560320"/>
          </a:xfrm>
          <a:prstGeom prst="rect">
            <a:avLst/>
          </a:prstGeom>
        </p:spPr>
      </p:pic>
      <p:sp>
        <p:nvSpPr>
          <p:cNvPr id="96" name="Caption model_comparison"/>
          <p:cNvSpPr txBox="1"/>
          <p:nvPr/>
        </p:nvSpPr>
        <p:spPr>
          <a:xfrm>
            <a:off x="22174200" y="7424927"/>
            <a:ext cx="10058400" cy="59943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Figure 3. Mean R² from 30 later-year runs and five per held-out station, with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matched seeds. Higher is better.</a:t>
            </a:r>
          </a:p>
        </p:txBody>
      </p:sp>
      <p:sp>
        <p:nvSpPr>
          <p:cNvPr id="97" name="Poster text 095"/>
          <p:cNvSpPr txBox="1"/>
          <p:nvPr/>
        </p:nvSpPr>
        <p:spPr>
          <a:xfrm>
            <a:off x="22174200" y="8152383"/>
            <a:ext cx="10058400" cy="9890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Two-regime R² is higher in all 30 later-year runs. Leaving out stations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also favors specialization on average, although improvements vary by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location.</a:t>
            </a:r>
          </a:p>
        </p:txBody>
      </p:sp>
      <p:pic>
        <p:nvPicPr>
          <p:cNvPr id="98" name="held_out_station_effects" descr="held_out_station_eff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9920" y="9251187"/>
            <a:ext cx="9966960" cy="2971800"/>
          </a:xfrm>
          <a:prstGeom prst="rect">
            <a:avLst/>
          </a:prstGeom>
        </p:spPr>
      </p:pic>
      <p:sp>
        <p:nvSpPr>
          <p:cNvPr id="99" name="Caption held_out_station_effects"/>
          <p:cNvSpPr txBox="1"/>
          <p:nvPr/>
        </p:nvSpPr>
        <p:spPr>
          <a:xfrm>
            <a:off x="22174200" y="12286996"/>
            <a:ext cx="10058400" cy="29971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Figure 4. Mean R² change: four gains and three losses (five runs).</a:t>
            </a:r>
          </a:p>
        </p:txBody>
      </p:sp>
      <p:sp>
        <p:nvSpPr>
          <p:cNvPr id="100" name="Poster text 098"/>
          <p:cNvSpPr txBox="1"/>
          <p:nvPr/>
        </p:nvSpPr>
        <p:spPr>
          <a:xfrm>
            <a:off x="22174200" y="12714732"/>
            <a:ext cx="10058400" cy="65938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Cayuse Pass has the largest R² increase. Leaving out either eastern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station reduces the smaller group's training coverage.</a:t>
            </a:r>
          </a:p>
        </p:txBody>
      </p:sp>
      <p:sp>
        <p:nvSpPr>
          <p:cNvPr id="101" name="ECE sensor-site evaluation"/>
          <p:cNvSpPr/>
          <p:nvPr/>
        </p:nvSpPr>
        <p:spPr>
          <a:xfrm>
            <a:off x="21991320" y="13483844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Poster text 100"/>
          <p:cNvSpPr txBox="1"/>
          <p:nvPr/>
        </p:nvSpPr>
        <p:spPr>
          <a:xfrm>
            <a:off x="22082760" y="13504875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ECE sensor-site evaluation</a:t>
            </a:r>
          </a:p>
        </p:txBody>
      </p:sp>
      <p:sp>
        <p:nvSpPr>
          <p:cNvPr id="103" name="Poster text 101"/>
          <p:cNvSpPr txBox="1"/>
          <p:nvPr/>
        </p:nvSpPr>
        <p:spPr>
          <a:xfrm>
            <a:off x="22174200" y="14142212"/>
            <a:ext cx="10058400" cy="131876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Missing SMAP inputs at five new sites deployed by Seattle University's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ECE team triggered automatic assignment using an index of recent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rainfall. We used Washington validation data to choose a specialist for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each rainfall class.</a:t>
            </a:r>
          </a:p>
        </p:txBody>
      </p:sp>
      <p:pic>
        <p:nvPicPr>
          <p:cNvPr id="104" name="ece_routing" descr="ece_rout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9920" y="15570708"/>
            <a:ext cx="9966960" cy="1920240"/>
          </a:xfrm>
          <a:prstGeom prst="rect">
            <a:avLst/>
          </a:prstGeom>
        </p:spPr>
      </p:pic>
      <p:sp>
        <p:nvSpPr>
          <p:cNvPr id="105" name="Caption ece_routing"/>
          <p:cNvSpPr txBox="1"/>
          <p:nvPr/>
        </p:nvSpPr>
        <p:spPr>
          <a:xfrm>
            <a:off x="22174200" y="17554955"/>
            <a:ext cx="10058400" cy="59943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Figure 5. Pooled ECE RMSE. Rainfall fallback and global model errors are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similar; lower is better.</a:t>
            </a:r>
          </a:p>
        </p:txBody>
      </p:sp>
      <p:sp>
        <p:nvSpPr>
          <p:cNvPr id="106" name="Poster text 104"/>
          <p:cNvSpPr txBox="1"/>
          <p:nvPr/>
        </p:nvSpPr>
        <p:spPr>
          <a:xfrm>
            <a:off x="22174200" y="18282411"/>
            <a:ext cx="10058400" cy="9890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For all 150 daily observations from July 20 to August 19, 2026, the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fallback selected the same specialist. Full-season performance at these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ECE sites remains untested.</a:t>
            </a:r>
          </a:p>
        </p:txBody>
      </p:sp>
      <p:sp>
        <p:nvSpPr>
          <p:cNvPr id="107" name="Discussion and next steps"/>
          <p:cNvSpPr/>
          <p:nvPr/>
        </p:nvSpPr>
        <p:spPr>
          <a:xfrm>
            <a:off x="21991320" y="19381216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Poster text 106"/>
          <p:cNvSpPr txBox="1"/>
          <p:nvPr/>
        </p:nvSpPr>
        <p:spPr>
          <a:xfrm>
            <a:off x="22082760" y="19402247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Discussion and next steps</a:t>
            </a:r>
          </a:p>
        </p:txBody>
      </p:sp>
      <p:sp>
        <p:nvSpPr>
          <p:cNvPr id="109" name="Poster text 107"/>
          <p:cNvSpPr txBox="1"/>
          <p:nvPr/>
        </p:nvSpPr>
        <p:spPr>
          <a:xfrm>
            <a:off x="22174200" y="20039583"/>
            <a:ext cx="10058400" cy="131876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These gains depend on reliable assignment and training sites that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cover the conditions encountered. We will test more Washington sites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and seasons with ECE sensors, including changes in satellite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Two-Regime Models for Daily Soil-Moisture Estimation in Washington</dc:title>
  <dc:subject>Summer research showcase: Washington daily soil-moisture models</dc:subject>
  <dc:creator>[Author names]</dc:creator>
  <cp:keywords>soil moisture, Washington, two regimes, XGBoost, Seattle University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