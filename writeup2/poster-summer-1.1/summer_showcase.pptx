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21945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attle University monogram" descr="su_mon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8"/>
            <a:ext cx="1975104" cy="1817095"/>
          </a:xfrm>
          <a:prstGeom prst="rect">
            <a:avLst/>
          </a:prstGeom>
        </p:spPr>
      </p:pic>
      <p:pic>
        <p:nvPicPr>
          <p:cNvPr id="3" name="Seattle University college logo" descr="su_colle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0" y="694944"/>
            <a:ext cx="3886200" cy="1646939"/>
          </a:xfrm>
          <a:prstGeom prst="rect">
            <a:avLst/>
          </a:prstGeom>
        </p:spPr>
      </p:pic>
      <p:sp>
        <p:nvSpPr>
          <p:cNvPr id="4" name="Poster title"/>
          <p:cNvSpPr txBox="1"/>
          <p:nvPr/>
        </p:nvSpPr>
        <p:spPr>
          <a:xfrm>
            <a:off x="2971800" y="347472"/>
            <a:ext cx="25008840" cy="1490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5664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202B35"/>
                </a:solidFill>
                <a:latin typeface="DejaVu Sans"/>
              </a:defRPr>
            </a:pPr>
            <a:r>
              <a:t>Two-Regime Models for Daily Soil-Moisture</a:t>
            </a:r>
          </a:p>
          <a:p>
            <a:pPr algn="ctr">
              <a:lnSpc>
                <a:spcPts val="5664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202B35"/>
                </a:solidFill>
                <a:latin typeface="DejaVu Sans"/>
              </a:defRPr>
            </a:pPr>
            <a:r>
              <a:t>Estimation in Washington</a:t>
            </a:r>
          </a:p>
        </p:txBody>
      </p:sp>
      <p:sp>
        <p:nvSpPr>
          <p:cNvPr id="5" name="Editable author and mentor placeholders"/>
          <p:cNvSpPr txBox="1"/>
          <p:nvPr/>
        </p:nvSpPr>
        <p:spPr>
          <a:xfrm>
            <a:off x="2971800" y="1847088"/>
            <a:ext cx="25008840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02B35"/>
                </a:solidFill>
                <a:latin typeface="DejaVu Sans"/>
              </a:defRPr>
            </a:pPr>
            <a:r>
              <a:t>[Author names] · Mentored by [Mentor name, credentials]</a:t>
            </a:r>
          </a:p>
        </p:txBody>
      </p:sp>
      <p:sp>
        <p:nvSpPr>
          <p:cNvPr id="6" name="Department affiliation"/>
          <p:cNvSpPr txBox="1"/>
          <p:nvPr/>
        </p:nvSpPr>
        <p:spPr>
          <a:xfrm>
            <a:off x="2971800" y="2304288"/>
            <a:ext cx="25008840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Department of Computer Science, Seattle University</a:t>
            </a:r>
          </a:p>
        </p:txBody>
      </p:sp>
      <p:sp>
        <p:nvSpPr>
          <p:cNvPr id="7" name="Poster text 005"/>
          <p:cNvSpPr txBox="1"/>
          <p:nvPr/>
        </p:nvSpPr>
        <p:spPr>
          <a:xfrm>
            <a:off x="2971800" y="2743200"/>
            <a:ext cx="25008840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697780"/>
                </a:solidFill>
                <a:latin typeface="DejaVu Sans"/>
              </a:defRPr>
            </a:pPr>
            <a:r>
              <a:t>Summer research showcase · 2026</a:t>
            </a:r>
          </a:p>
        </p:txBody>
      </p:sp>
      <p:sp>
        <p:nvSpPr>
          <p:cNvPr id="8" name="Background and research question"/>
          <p:cNvSpPr/>
          <p:nvPr/>
        </p:nvSpPr>
        <p:spPr>
          <a:xfrm>
            <a:off x="502920" y="317296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oster text 007"/>
          <p:cNvSpPr txBox="1"/>
          <p:nvPr/>
        </p:nvSpPr>
        <p:spPr>
          <a:xfrm>
            <a:off x="594360" y="319399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Background and research question</a:t>
            </a:r>
          </a:p>
        </p:txBody>
      </p:sp>
      <p:sp>
        <p:nvSpPr>
          <p:cNvPr id="10" name="Poster text 008"/>
          <p:cNvSpPr txBox="1"/>
          <p:nvPr/>
        </p:nvSpPr>
        <p:spPr>
          <a:xfrm>
            <a:off x="685800" y="3831336"/>
            <a:ext cx="10058400" cy="4046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3186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C00000"/>
                </a:solidFill>
                <a:latin typeface="DejaVu Sans"/>
              </a:defRPr>
            </a:pPr>
            <a:r>
              <a:t>Why soil moisture estimation?</a:t>
            </a:r>
          </a:p>
        </p:txBody>
      </p:sp>
      <p:sp>
        <p:nvSpPr>
          <p:cNvPr id="11" name="Poster text 009"/>
          <p:cNvSpPr txBox="1"/>
          <p:nvPr/>
        </p:nvSpPr>
        <p:spPr>
          <a:xfrm>
            <a:off x="685800" y="4437126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Soil moisture regulates agricultural productivity and drought resilience,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making daily estimates vital for water management. High-resolution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modeling tracks moisture recharge and drydown dynamics, particularly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across regions lacking direct measurement infrastructure.</a:t>
            </a:r>
          </a:p>
        </p:txBody>
      </p:sp>
      <p:sp>
        <p:nvSpPr>
          <p:cNvPr id="12" name="Poster text 010"/>
          <p:cNvSpPr txBox="1"/>
          <p:nvPr/>
        </p:nvSpPr>
        <p:spPr>
          <a:xfrm>
            <a:off x="685800" y="5865622"/>
            <a:ext cx="10058400" cy="16484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While in-situ ground sensors offer accurate readings, they exist only at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limited monitoring sites. Satellite observations span broader regions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but remain intermittent with frequent data gaps. To generate daily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estimates, multi-source modeling combines satellite, weather, and site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data, extending an established pipeline and global XGBoost baseline.</a:t>
            </a:r>
          </a:p>
        </p:txBody>
      </p:sp>
      <p:sp>
        <p:nvSpPr>
          <p:cNvPr id="13" name="Poster box 011"/>
          <p:cNvSpPr/>
          <p:nvPr/>
        </p:nvSpPr>
        <p:spPr>
          <a:xfrm>
            <a:off x="685800" y="7623810"/>
            <a:ext cx="10058400" cy="1322832"/>
          </a:xfrm>
          <a:prstGeom prst="roundRect">
            <a:avLst>
              <a:gd name="adj" fmla="val 8000"/>
            </a:avLst>
          </a:prstGeom>
          <a:solidFill>
            <a:srgbClr val="F5F1ED"/>
          </a:solidFill>
          <a:ln w="12700">
            <a:solidFill>
              <a:srgbClr val="DED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oster text 012"/>
          <p:cNvSpPr txBox="1"/>
          <p:nvPr/>
        </p:nvSpPr>
        <p:spPr>
          <a:xfrm>
            <a:off x="886968" y="7733538"/>
            <a:ext cx="9656064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00000"/>
                </a:solidFill>
                <a:latin typeface="DejaVu Sans"/>
              </a:defRPr>
            </a:pPr>
            <a:r>
              <a:t>Summer research question</a:t>
            </a:r>
          </a:p>
        </p:txBody>
      </p:sp>
      <p:sp>
        <p:nvSpPr>
          <p:cNvPr id="15" name="Poster text 013"/>
          <p:cNvSpPr txBox="1"/>
          <p:nvPr/>
        </p:nvSpPr>
        <p:spPr>
          <a:xfrm>
            <a:off x="886968" y="8126730"/>
            <a:ext cx="9656064" cy="7193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2B35"/>
                </a:solidFill>
                <a:latin typeface="DejaVu Sans"/>
              </a:defRPr>
            </a:pPr>
            <a:r>
              <a:t>Can two specialists improve estimates across</a:t>
            </a:r>
          </a:p>
          <a:p>
            <a:pPr algn="l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2B35"/>
                </a:solidFill>
                <a:latin typeface="DejaVu Sans"/>
              </a:defRPr>
            </a:pPr>
            <a:r>
              <a:t>Washington's contrasting conditions?</a:t>
            </a:r>
          </a:p>
        </p:txBody>
      </p:sp>
      <p:sp>
        <p:nvSpPr>
          <p:cNvPr id="16" name="Poster text 014"/>
          <p:cNvSpPr txBox="1"/>
          <p:nvPr/>
        </p:nvSpPr>
        <p:spPr>
          <a:xfrm>
            <a:off x="685800" y="9147810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Both models are compared under identical benchmarks. For known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stations, we assign a fixed specialist; tests at new sites evaluate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dynamic routing under missing satellite inputs.</a:t>
            </a:r>
          </a:p>
        </p:txBody>
      </p:sp>
      <p:sp>
        <p:nvSpPr>
          <p:cNvPr id="17" name="Study area and data"/>
          <p:cNvSpPr/>
          <p:nvPr/>
        </p:nvSpPr>
        <p:spPr>
          <a:xfrm>
            <a:off x="502920" y="10246614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oster text 016"/>
          <p:cNvSpPr txBox="1"/>
          <p:nvPr/>
        </p:nvSpPr>
        <p:spPr>
          <a:xfrm>
            <a:off x="594360" y="10267645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Study area and data</a:t>
            </a:r>
          </a:p>
        </p:txBody>
      </p:sp>
      <p:pic>
        <p:nvPicPr>
          <p:cNvPr id="19" name="washington_stations" descr="washington_st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0904982"/>
            <a:ext cx="6400800" cy="4114800"/>
          </a:xfrm>
          <a:prstGeom prst="rect">
            <a:avLst/>
          </a:prstGeom>
        </p:spPr>
      </p:pic>
      <p:sp>
        <p:nvSpPr>
          <p:cNvPr id="20" name="Poster text 018"/>
          <p:cNvSpPr txBox="1"/>
          <p:nvPr/>
        </p:nvSpPr>
        <p:spPr>
          <a:xfrm>
            <a:off x="7406640" y="11133582"/>
            <a:ext cx="333756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536875"/>
                </a:solidFill>
                <a:latin typeface="DejaVu Sans"/>
              </a:defRPr>
            </a:pPr>
            <a:r>
              <a:t>Regional contrast</a:t>
            </a:r>
          </a:p>
        </p:txBody>
      </p:sp>
      <p:sp>
        <p:nvSpPr>
          <p:cNvPr id="21" name="Study-area interpretation"/>
          <p:cNvSpPr txBox="1"/>
          <p:nvPr/>
        </p:nvSpPr>
        <p:spPr>
          <a:xfrm>
            <a:off x="7406640" y="11609070"/>
            <a:ext cx="3337560" cy="2997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Stations span coastal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areas, the Cascade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mountains, and arid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eastern Washington,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capturing contrasting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hydroclimatic regimes.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Leave-one-station-out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evaluations test model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generalization across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unseen microclimates.</a:t>
            </a:r>
          </a:p>
        </p:txBody>
      </p:sp>
      <p:sp>
        <p:nvSpPr>
          <p:cNvPr id="22" name="Caption washington_stations"/>
          <p:cNvSpPr txBox="1"/>
          <p:nvPr/>
        </p:nvSpPr>
        <p:spPr>
          <a:xfrm>
            <a:off x="685800" y="15083790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1. Seven Washington training stations and their assigned clusters.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Colors designate cluster regimes, with no geographic boundaries implied.</a:t>
            </a:r>
          </a:p>
        </p:txBody>
      </p:sp>
      <p:sp>
        <p:nvSpPr>
          <p:cNvPr id="23" name="Poster text 021"/>
          <p:cNvSpPr txBox="1"/>
          <p:nvPr/>
        </p:nvSpPr>
        <p:spPr>
          <a:xfrm>
            <a:off x="685800" y="15811246"/>
            <a:ext cx="10058400" cy="197815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In-situ ground truth for soil moisture comes from NOAA USCRN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SNOTEL stations. Satellite inputs comprise SMAP soil moisture,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Sentinel-1 radar backscatter from the land surface, and Sentinel-2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surface reflectance and indices of vegetation greenness and canopy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water content. We use MODIS land-surface temperature, ERA5-Land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weather, and terrain, soil, and climate descriptors.</a:t>
            </a:r>
          </a:p>
        </p:txBody>
      </p:sp>
      <p:sp>
        <p:nvSpPr>
          <p:cNvPr id="24" name="Poster text 022"/>
          <p:cNvSpPr txBox="1"/>
          <p:nvPr/>
        </p:nvSpPr>
        <p:spPr>
          <a:xfrm>
            <a:off x="685800" y="17899126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 data pipeline aligns observations onto a daily grid, imputes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missing values, smooths temporal sequences, and extracts rolling lag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features capturing recent weather and satellite signals.</a:t>
            </a:r>
          </a:p>
        </p:txBody>
      </p:sp>
      <p:sp>
        <p:nvSpPr>
          <p:cNvPr id="25" name="Poster box 023"/>
          <p:cNvSpPr/>
          <p:nvPr/>
        </p:nvSpPr>
        <p:spPr>
          <a:xfrm>
            <a:off x="731520" y="18997930"/>
            <a:ext cx="4663440" cy="932688"/>
          </a:xfrm>
          <a:prstGeom prst="roundRect">
            <a:avLst>
              <a:gd name="adj" fmla="val 8000"/>
            </a:avLst>
          </a:prstGeom>
          <a:solidFill>
            <a:srgbClr val="ED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oster text 024"/>
          <p:cNvSpPr txBox="1"/>
          <p:nvPr/>
        </p:nvSpPr>
        <p:spPr>
          <a:xfrm>
            <a:off x="868680" y="19116802"/>
            <a:ext cx="4389120" cy="667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2017 to 2022</a:t>
            </a:r>
          </a:p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Final fitting period</a:t>
            </a:r>
          </a:p>
        </p:txBody>
      </p:sp>
      <p:sp>
        <p:nvSpPr>
          <p:cNvPr id="27" name="Poster box 025"/>
          <p:cNvSpPr/>
          <p:nvPr/>
        </p:nvSpPr>
        <p:spPr>
          <a:xfrm>
            <a:off x="6035040" y="18997930"/>
            <a:ext cx="4663440" cy="932688"/>
          </a:xfrm>
          <a:prstGeom prst="roundRect">
            <a:avLst>
              <a:gd name="adj" fmla="val 8000"/>
            </a:avLst>
          </a:prstGeom>
          <a:solidFill>
            <a:srgbClr val="F5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oster text 026"/>
          <p:cNvSpPr txBox="1"/>
          <p:nvPr/>
        </p:nvSpPr>
        <p:spPr>
          <a:xfrm>
            <a:off x="6172200" y="19116802"/>
            <a:ext cx="4389120" cy="667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2023 to 2025</a:t>
            </a:r>
          </a:p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02B35"/>
                </a:solidFill>
                <a:latin typeface="DejaVu Sans"/>
              </a:defRPr>
            </a:pPr>
            <a:r>
              <a:t>Later-year test</a:t>
            </a:r>
          </a:p>
        </p:txBody>
      </p:sp>
      <p:cxnSp>
        <p:nvCxnSpPr>
          <p:cNvPr id="29" name="Poster line 027"/>
          <p:cNvCxnSpPr/>
          <p:nvPr/>
        </p:nvCxnSpPr>
        <p:spPr>
          <a:xfrm>
            <a:off x="5522976" y="19464274"/>
            <a:ext cx="411480" cy="0"/>
          </a:xfrm>
          <a:prstGeom prst="line">
            <a:avLst/>
          </a:prstGeom>
          <a:ln w="25400">
            <a:solidFill>
              <a:srgbClr val="919A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ster text 028"/>
          <p:cNvSpPr txBox="1"/>
          <p:nvPr/>
        </p:nvSpPr>
        <p:spPr>
          <a:xfrm>
            <a:off x="685800" y="20095210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We train the models with data from 2017 to 2022. We evaluate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temporal generalization on later years (2023 to 2025) and test new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Washington sites using leave-one-station-out cross-validation.</a:t>
            </a:r>
          </a:p>
        </p:txBody>
      </p:sp>
      <p:sp>
        <p:nvSpPr>
          <p:cNvPr id="31" name="Two-regime modeling"/>
          <p:cNvSpPr/>
          <p:nvPr/>
        </p:nvSpPr>
        <p:spPr>
          <a:xfrm>
            <a:off x="11247120" y="317296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oster text 030"/>
          <p:cNvSpPr txBox="1"/>
          <p:nvPr/>
        </p:nvSpPr>
        <p:spPr>
          <a:xfrm>
            <a:off x="11338560" y="319399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Two-regime modeling</a:t>
            </a:r>
          </a:p>
        </p:txBody>
      </p:sp>
      <p:sp>
        <p:nvSpPr>
          <p:cNvPr id="33" name="Poster text 031"/>
          <p:cNvSpPr txBox="1"/>
          <p:nvPr/>
        </p:nvSpPr>
        <p:spPr>
          <a:xfrm>
            <a:off x="11430000" y="3831336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 single global model enforces one input-to-moisture mapping across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all stations. We divide observations into two environmental regimes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and fit a dedicated XGBoost specialist to each. Each specialist predicts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daily volumetric soil moisture at 5 cm depth (m³/m³).</a:t>
            </a:r>
          </a:p>
        </p:txBody>
      </p:sp>
      <p:sp>
        <p:nvSpPr>
          <p:cNvPr id="34" name="Poster box 032"/>
          <p:cNvSpPr/>
          <p:nvPr/>
        </p:nvSpPr>
        <p:spPr>
          <a:xfrm>
            <a:off x="11430000" y="5259832"/>
            <a:ext cx="3108960" cy="1298448"/>
          </a:xfrm>
          <a:prstGeom prst="roundRect">
            <a:avLst>
              <a:gd name="adj" fmla="val 8000"/>
            </a:avLst>
          </a:prstGeom>
          <a:solidFill>
            <a:srgbClr val="F0F3F5"/>
          </a:solidFill>
          <a:ln w="12700">
            <a:solidFill>
              <a:srgbClr val="CE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oster text 033"/>
          <p:cNvSpPr txBox="1"/>
          <p:nvPr/>
        </p:nvSpPr>
        <p:spPr>
          <a:xfrm>
            <a:off x="11521440" y="5342128"/>
            <a:ext cx="2926080" cy="3017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536875"/>
                </a:solidFill>
                <a:latin typeface="DejaVu Sans"/>
              </a:defRPr>
            </a:pPr>
            <a:r>
              <a:t>Satellite</a:t>
            </a:r>
          </a:p>
        </p:txBody>
      </p:sp>
      <p:sp>
        <p:nvSpPr>
          <p:cNvPr id="36" name="Poster text 034"/>
          <p:cNvSpPr txBox="1"/>
          <p:nvPr/>
        </p:nvSpPr>
        <p:spPr>
          <a:xfrm>
            <a:off x="11503152" y="5662168"/>
            <a:ext cx="2962656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Moisture, backscatter,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vegetation, land-surface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temperature</a:t>
            </a:r>
          </a:p>
        </p:txBody>
      </p:sp>
      <p:cxnSp>
        <p:nvCxnSpPr>
          <p:cNvPr id="37" name="Poster line 035"/>
          <p:cNvCxnSpPr/>
          <p:nvPr/>
        </p:nvCxnSpPr>
        <p:spPr>
          <a:xfrm>
            <a:off x="12984480" y="6594856"/>
            <a:ext cx="0" cy="155448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oster box 036"/>
          <p:cNvSpPr/>
          <p:nvPr/>
        </p:nvSpPr>
        <p:spPr>
          <a:xfrm>
            <a:off x="14904720" y="5259832"/>
            <a:ext cx="3108960" cy="1298448"/>
          </a:xfrm>
          <a:prstGeom prst="roundRect">
            <a:avLst>
              <a:gd name="adj" fmla="val 8000"/>
            </a:avLst>
          </a:prstGeom>
          <a:solidFill>
            <a:srgbClr val="F0F3F5"/>
          </a:solidFill>
          <a:ln w="12700">
            <a:solidFill>
              <a:srgbClr val="CE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oster text 037"/>
          <p:cNvSpPr txBox="1"/>
          <p:nvPr/>
        </p:nvSpPr>
        <p:spPr>
          <a:xfrm>
            <a:off x="14996160" y="5342128"/>
            <a:ext cx="2926080" cy="3017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536875"/>
                </a:solidFill>
                <a:latin typeface="DejaVu Sans"/>
              </a:defRPr>
            </a:pPr>
            <a:r>
              <a:t>Weather</a:t>
            </a:r>
          </a:p>
        </p:txBody>
      </p:sp>
      <p:sp>
        <p:nvSpPr>
          <p:cNvPr id="40" name="Poster text 038"/>
          <p:cNvSpPr txBox="1"/>
          <p:nvPr/>
        </p:nvSpPr>
        <p:spPr>
          <a:xfrm>
            <a:off x="14977872" y="5662168"/>
            <a:ext cx="2962656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Rainfall totals and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recent rainfall history</a:t>
            </a:r>
          </a:p>
        </p:txBody>
      </p:sp>
      <p:cxnSp>
        <p:nvCxnSpPr>
          <p:cNvPr id="41" name="Poster line 039"/>
          <p:cNvCxnSpPr/>
          <p:nvPr/>
        </p:nvCxnSpPr>
        <p:spPr>
          <a:xfrm>
            <a:off x="16459200" y="6594856"/>
            <a:ext cx="0" cy="155448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oster box 040"/>
          <p:cNvSpPr/>
          <p:nvPr/>
        </p:nvSpPr>
        <p:spPr>
          <a:xfrm>
            <a:off x="18379440" y="5259832"/>
            <a:ext cx="3108960" cy="1298448"/>
          </a:xfrm>
          <a:prstGeom prst="roundRect">
            <a:avLst>
              <a:gd name="adj" fmla="val 8000"/>
            </a:avLst>
          </a:prstGeom>
          <a:solidFill>
            <a:srgbClr val="F0F3F5"/>
          </a:solidFill>
          <a:ln w="12700">
            <a:solidFill>
              <a:srgbClr val="CE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oster text 041"/>
          <p:cNvSpPr txBox="1"/>
          <p:nvPr/>
        </p:nvSpPr>
        <p:spPr>
          <a:xfrm>
            <a:off x="18470880" y="5342128"/>
            <a:ext cx="2926080" cy="3017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536875"/>
                </a:solidFill>
                <a:latin typeface="DejaVu Sans"/>
              </a:defRPr>
            </a:pPr>
            <a:r>
              <a:t>Site properties</a:t>
            </a:r>
          </a:p>
        </p:txBody>
      </p:sp>
      <p:sp>
        <p:nvSpPr>
          <p:cNvPr id="44" name="Poster text 042"/>
          <p:cNvSpPr txBox="1"/>
          <p:nvPr/>
        </p:nvSpPr>
        <p:spPr>
          <a:xfrm>
            <a:off x="18452592" y="5662168"/>
            <a:ext cx="2962656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Terrain, climate,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land cover, soil</a:t>
            </a:r>
          </a:p>
        </p:txBody>
      </p:sp>
      <p:cxnSp>
        <p:nvCxnSpPr>
          <p:cNvPr id="45" name="Poster line 043"/>
          <p:cNvCxnSpPr/>
          <p:nvPr/>
        </p:nvCxnSpPr>
        <p:spPr>
          <a:xfrm>
            <a:off x="19933920" y="6594856"/>
            <a:ext cx="0" cy="155448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Poster line 044"/>
          <p:cNvCxnSpPr/>
          <p:nvPr/>
        </p:nvCxnSpPr>
        <p:spPr>
          <a:xfrm>
            <a:off x="12984480" y="6750304"/>
            <a:ext cx="6949440" cy="0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oster line 045"/>
          <p:cNvCxnSpPr/>
          <p:nvPr/>
        </p:nvCxnSpPr>
        <p:spPr>
          <a:xfrm>
            <a:off x="16459200" y="6750304"/>
            <a:ext cx="0" cy="137160"/>
          </a:xfrm>
          <a:prstGeom prst="line">
            <a:avLst/>
          </a:prstGeom>
          <a:ln w="25400">
            <a:solidFill>
              <a:srgbClr val="919A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Poster box 046"/>
          <p:cNvSpPr/>
          <p:nvPr/>
        </p:nvSpPr>
        <p:spPr>
          <a:xfrm>
            <a:off x="12070080" y="6924040"/>
            <a:ext cx="8778240" cy="1024128"/>
          </a:xfrm>
          <a:prstGeom prst="roundRect">
            <a:avLst>
              <a:gd name="adj" fmla="val 8000"/>
            </a:avLst>
          </a:prstGeom>
          <a:solidFill>
            <a:srgbClr val="EEF2F4"/>
          </a:solidFill>
          <a:ln w="12700">
            <a:solidFill>
              <a:srgbClr val="92A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Poster text 047"/>
          <p:cNvSpPr txBox="1"/>
          <p:nvPr/>
        </p:nvSpPr>
        <p:spPr>
          <a:xfrm>
            <a:off x="12207240" y="7006336"/>
            <a:ext cx="8503920" cy="3931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068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02B35"/>
                </a:solidFill>
                <a:latin typeface="DejaVu Sans"/>
              </a:defRPr>
            </a:pPr>
            <a:r>
              <a:t>Feature-based grouping</a:t>
            </a:r>
          </a:p>
        </p:txBody>
      </p:sp>
      <p:sp>
        <p:nvSpPr>
          <p:cNvPr id="50" name="Poster text 048"/>
          <p:cNvSpPr txBox="1"/>
          <p:nvPr/>
        </p:nvSpPr>
        <p:spPr>
          <a:xfrm>
            <a:off x="12207240" y="7445248"/>
            <a:ext cx="8503920" cy="3383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B35"/>
                </a:solidFill>
                <a:latin typeface="DejaVu Sans"/>
              </a:defRPr>
            </a:pPr>
            <a:r>
              <a:t>Standardize → K-means → fixed groups for known stations</a:t>
            </a:r>
          </a:p>
        </p:txBody>
      </p:sp>
      <p:cxnSp>
        <p:nvCxnSpPr>
          <p:cNvPr id="51" name="Poster line 049"/>
          <p:cNvCxnSpPr/>
          <p:nvPr/>
        </p:nvCxnSpPr>
        <p:spPr>
          <a:xfrm>
            <a:off x="16459200" y="7993888"/>
            <a:ext cx="0" cy="219456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Poster line 050"/>
          <p:cNvCxnSpPr/>
          <p:nvPr/>
        </p:nvCxnSpPr>
        <p:spPr>
          <a:xfrm>
            <a:off x="13807440" y="8213344"/>
            <a:ext cx="5303520" cy="0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Poster line 051"/>
          <p:cNvCxnSpPr/>
          <p:nvPr/>
        </p:nvCxnSpPr>
        <p:spPr>
          <a:xfrm>
            <a:off x="13807440" y="8213344"/>
            <a:ext cx="0" cy="219456"/>
          </a:xfrm>
          <a:prstGeom prst="line">
            <a:avLst/>
          </a:prstGeom>
          <a:ln w="38100">
            <a:solidFill>
              <a:srgbClr val="176E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ster box 052"/>
          <p:cNvSpPr/>
          <p:nvPr/>
        </p:nvSpPr>
        <p:spPr>
          <a:xfrm>
            <a:off x="11521440" y="8469376"/>
            <a:ext cx="4572000" cy="1179576"/>
          </a:xfrm>
          <a:prstGeom prst="roundRect">
            <a:avLst>
              <a:gd name="adj" fmla="val 8000"/>
            </a:avLst>
          </a:prstGeom>
          <a:solidFill>
            <a:srgbClr val="17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oster text 053"/>
          <p:cNvSpPr txBox="1"/>
          <p:nvPr/>
        </p:nvSpPr>
        <p:spPr>
          <a:xfrm>
            <a:off x="11631168" y="8569960"/>
            <a:ext cx="4352544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Specialist A</a:t>
            </a:r>
          </a:p>
        </p:txBody>
      </p:sp>
      <p:sp>
        <p:nvSpPr>
          <p:cNvPr id="56" name="Poster text 054"/>
          <p:cNvSpPr txBox="1"/>
          <p:nvPr/>
        </p:nvSpPr>
        <p:spPr>
          <a:xfrm>
            <a:off x="11631168" y="8999728"/>
            <a:ext cx="435254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DejaVu Sans"/>
              </a:defRPr>
            </a:pPr>
            <a:r>
              <a:t>Wet / Mountains</a:t>
            </a:r>
          </a:p>
        </p:txBody>
      </p:sp>
      <p:sp>
        <p:nvSpPr>
          <p:cNvPr id="57" name="Poster text 055"/>
          <p:cNvSpPr txBox="1"/>
          <p:nvPr/>
        </p:nvSpPr>
        <p:spPr>
          <a:xfrm>
            <a:off x="11631168" y="9356344"/>
            <a:ext cx="4352544" cy="2651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FFFFFF"/>
                </a:solidFill>
                <a:latin typeface="DejaVu Sans"/>
              </a:defRPr>
            </a:pPr>
            <a:r>
              <a:t>XGBoost regressor</a:t>
            </a:r>
          </a:p>
        </p:txBody>
      </p:sp>
      <p:cxnSp>
        <p:nvCxnSpPr>
          <p:cNvPr id="58" name="Poster line 056"/>
          <p:cNvCxnSpPr/>
          <p:nvPr/>
        </p:nvCxnSpPr>
        <p:spPr>
          <a:xfrm>
            <a:off x="13807440" y="9685528"/>
            <a:ext cx="0" cy="201168"/>
          </a:xfrm>
          <a:prstGeom prst="line">
            <a:avLst/>
          </a:prstGeom>
          <a:ln w="38100">
            <a:solidFill>
              <a:srgbClr val="17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oster line 057"/>
          <p:cNvCxnSpPr/>
          <p:nvPr/>
        </p:nvCxnSpPr>
        <p:spPr>
          <a:xfrm>
            <a:off x="19110960" y="8213344"/>
            <a:ext cx="0" cy="219456"/>
          </a:xfrm>
          <a:prstGeom prst="line">
            <a:avLst/>
          </a:prstGeom>
          <a:ln w="38100">
            <a:solidFill>
              <a:srgbClr val="B4802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ster box 058"/>
          <p:cNvSpPr/>
          <p:nvPr/>
        </p:nvSpPr>
        <p:spPr>
          <a:xfrm>
            <a:off x="16824960" y="8469376"/>
            <a:ext cx="4572000" cy="1179576"/>
          </a:xfrm>
          <a:prstGeom prst="roundRect">
            <a:avLst>
              <a:gd name="adj" fmla="val 8000"/>
            </a:avLst>
          </a:prstGeom>
          <a:solidFill>
            <a:srgbClr val="B48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oster text 059"/>
          <p:cNvSpPr txBox="1"/>
          <p:nvPr/>
        </p:nvSpPr>
        <p:spPr>
          <a:xfrm>
            <a:off x="16934688" y="8569960"/>
            <a:ext cx="4352544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832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Specialist B</a:t>
            </a:r>
          </a:p>
        </p:txBody>
      </p:sp>
      <p:sp>
        <p:nvSpPr>
          <p:cNvPr id="62" name="Poster text 060"/>
          <p:cNvSpPr txBox="1"/>
          <p:nvPr/>
        </p:nvSpPr>
        <p:spPr>
          <a:xfrm>
            <a:off x="16934688" y="8999728"/>
            <a:ext cx="4352544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DejaVu Sans"/>
              </a:defRPr>
            </a:pPr>
            <a:r>
              <a:t>Drier / Lowlands</a:t>
            </a:r>
          </a:p>
        </p:txBody>
      </p:sp>
      <p:sp>
        <p:nvSpPr>
          <p:cNvPr id="63" name="Poster text 061"/>
          <p:cNvSpPr txBox="1"/>
          <p:nvPr/>
        </p:nvSpPr>
        <p:spPr>
          <a:xfrm>
            <a:off x="16934688" y="9356344"/>
            <a:ext cx="4352544" cy="2651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FFFFFF"/>
                </a:solidFill>
                <a:latin typeface="DejaVu Sans"/>
              </a:defRPr>
            </a:pPr>
            <a:r>
              <a:t>XGBoost regressor</a:t>
            </a:r>
          </a:p>
        </p:txBody>
      </p:sp>
      <p:cxnSp>
        <p:nvCxnSpPr>
          <p:cNvPr id="64" name="Poster line 062"/>
          <p:cNvCxnSpPr/>
          <p:nvPr/>
        </p:nvCxnSpPr>
        <p:spPr>
          <a:xfrm>
            <a:off x="19110960" y="9685528"/>
            <a:ext cx="0" cy="201168"/>
          </a:xfrm>
          <a:prstGeom prst="line">
            <a:avLst/>
          </a:prstGeom>
          <a:ln w="38100">
            <a:solidFill>
              <a:srgbClr val="B480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oster line 063"/>
          <p:cNvCxnSpPr/>
          <p:nvPr/>
        </p:nvCxnSpPr>
        <p:spPr>
          <a:xfrm>
            <a:off x="13807440" y="9886696"/>
            <a:ext cx="5303520" cy="0"/>
          </a:xfrm>
          <a:prstGeom prst="line">
            <a:avLst/>
          </a:prstGeom>
          <a:ln w="25400">
            <a:solidFill>
              <a:srgbClr val="919A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Poster line 064"/>
          <p:cNvCxnSpPr/>
          <p:nvPr/>
        </p:nvCxnSpPr>
        <p:spPr>
          <a:xfrm>
            <a:off x="16459200" y="9886696"/>
            <a:ext cx="0" cy="173736"/>
          </a:xfrm>
          <a:prstGeom prst="line">
            <a:avLst/>
          </a:prstGeom>
          <a:ln w="25400">
            <a:solidFill>
              <a:srgbClr val="919A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Poster box 065"/>
          <p:cNvSpPr/>
          <p:nvPr/>
        </p:nvSpPr>
        <p:spPr>
          <a:xfrm>
            <a:off x="12070080" y="10097008"/>
            <a:ext cx="8778240" cy="978408"/>
          </a:xfrm>
          <a:prstGeom prst="roundRect">
            <a:avLst>
              <a:gd name="adj" fmla="val 8000"/>
            </a:avLst>
          </a:prstGeom>
          <a:solidFill>
            <a:srgbClr val="20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Poster text 066"/>
          <p:cNvSpPr txBox="1"/>
          <p:nvPr/>
        </p:nvSpPr>
        <p:spPr>
          <a:xfrm>
            <a:off x="12207240" y="10170160"/>
            <a:ext cx="8503920" cy="3749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9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Daily soil-moisture estimate</a:t>
            </a:r>
          </a:p>
        </p:txBody>
      </p:sp>
      <p:sp>
        <p:nvSpPr>
          <p:cNvPr id="69" name="Editable hard-routing equation"/>
          <p:cNvSpPr txBox="1"/>
          <p:nvPr/>
        </p:nvSpPr>
        <p:spPr>
          <a:xfrm>
            <a:off x="12207240" y="10636504"/>
            <a:ext cx="8503920" cy="3474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FFFF"/>
                </a:solidFill>
                <a:latin typeface="DejaVu Sans"/>
              </a:defRPr>
            </a:pPr>
            <a:r>
              <a:t>ŷ = fᵣ(x), r = g(s, x) ∈ {A, B}</a:t>
            </a:r>
          </a:p>
        </p:txBody>
      </p:sp>
      <p:sp>
        <p:nvSpPr>
          <p:cNvPr id="70" name="Poster text 068"/>
          <p:cNvSpPr txBox="1"/>
          <p:nvPr/>
        </p:nvSpPr>
        <p:spPr>
          <a:xfrm>
            <a:off x="11430000" y="11185144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2. Two-regime routing: each observation is assigned to a specialist fᵣ,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where x denotes input features, s the station, and g the routing function.</a:t>
            </a:r>
          </a:p>
        </p:txBody>
      </p:sp>
      <p:sp>
        <p:nvSpPr>
          <p:cNvPr id="71" name="Poster text 069"/>
          <p:cNvSpPr txBox="1"/>
          <p:nvPr/>
        </p:nvSpPr>
        <p:spPr>
          <a:xfrm>
            <a:off x="11430000" y="11894312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1. Router inputs are imputed using training-set means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standardized to comparable scales. K-means clustering identifies two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centroids, assigning unseen samples to the nearest centroid using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feature inputs alone without target labels.</a:t>
            </a:r>
          </a:p>
        </p:txBody>
      </p:sp>
      <p:sp>
        <p:nvSpPr>
          <p:cNvPr id="72" name="Poster text 070"/>
          <p:cNvSpPr txBox="1"/>
          <p:nvPr/>
        </p:nvSpPr>
        <p:spPr>
          <a:xfrm>
            <a:off x="11430000" y="13322808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2. For known stations, each adopts its majority cluster specialist for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temporal consistency. New stations are routed dynamically each day,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falling back to rainfall rules if satellite features are missing.</a:t>
            </a:r>
          </a:p>
        </p:txBody>
      </p:sp>
      <p:sp>
        <p:nvSpPr>
          <p:cNvPr id="73" name="Poster text 071"/>
          <p:cNvSpPr txBox="1"/>
          <p:nvPr/>
        </p:nvSpPr>
        <p:spPr>
          <a:xfrm>
            <a:off x="11430000" y="14421612"/>
            <a:ext cx="10058400" cy="16484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3. Both approaches use identical features, XGBoost settings,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evaluation splits, and random seeds. Each specialist trains solely on its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assigned regime. Testing 30 repeated seeds quantifies training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stability, while station-holdout splits evaluate spatial generalization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uncertainty.</a:t>
            </a:r>
          </a:p>
        </p:txBody>
      </p:sp>
      <p:sp>
        <p:nvSpPr>
          <p:cNvPr id="74" name="Regime interpretation"/>
          <p:cNvSpPr/>
          <p:nvPr/>
        </p:nvSpPr>
        <p:spPr>
          <a:xfrm>
            <a:off x="11247120" y="16179799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Poster text 073"/>
          <p:cNvSpPr txBox="1"/>
          <p:nvPr/>
        </p:nvSpPr>
        <p:spPr>
          <a:xfrm>
            <a:off x="11338560" y="16200831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Regime interpretation</a:t>
            </a:r>
          </a:p>
        </p:txBody>
      </p:sp>
      <p:sp>
        <p:nvSpPr>
          <p:cNvPr id="76" name="Poster box 074"/>
          <p:cNvSpPr/>
          <p:nvPr/>
        </p:nvSpPr>
        <p:spPr>
          <a:xfrm>
            <a:off x="11430000" y="16838167"/>
            <a:ext cx="4754880" cy="2587752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12700">
            <a:solidFill>
              <a:srgbClr val="176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Poster box 075"/>
          <p:cNvSpPr/>
          <p:nvPr/>
        </p:nvSpPr>
        <p:spPr>
          <a:xfrm>
            <a:off x="11430000" y="16838167"/>
            <a:ext cx="4754880" cy="64008"/>
          </a:xfrm>
          <a:prstGeom prst="rect">
            <a:avLst/>
          </a:prstGeom>
          <a:solidFill>
            <a:srgbClr val="17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Poster text 076"/>
          <p:cNvSpPr txBox="1"/>
          <p:nvPr/>
        </p:nvSpPr>
        <p:spPr>
          <a:xfrm>
            <a:off x="11594592" y="17002759"/>
            <a:ext cx="4425696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713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6E9B"/>
                </a:solidFill>
                <a:latin typeface="DejaVu Sans"/>
              </a:defRPr>
            </a:pPr>
            <a:r>
              <a:t>Wet / Mountains</a:t>
            </a:r>
          </a:p>
        </p:txBody>
      </p:sp>
      <p:sp>
        <p:nvSpPr>
          <p:cNvPr id="79" name="Poster text 077"/>
          <p:cNvSpPr txBox="1"/>
          <p:nvPr/>
        </p:nvSpPr>
        <p:spPr>
          <a:xfrm>
            <a:off x="11594592" y="17432527"/>
            <a:ext cx="4425696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02B35"/>
                </a:solidFill>
                <a:latin typeface="DejaVu Sans"/>
              </a:defRPr>
            </a:pPr>
            <a:r>
              <a:t>5 training stations</a:t>
            </a:r>
          </a:p>
        </p:txBody>
      </p:sp>
      <p:sp>
        <p:nvSpPr>
          <p:cNvPr id="80" name="Poster text 078"/>
          <p:cNvSpPr txBox="1"/>
          <p:nvPr/>
        </p:nvSpPr>
        <p:spPr>
          <a:xfrm>
            <a:off x="11594592" y="17834863"/>
            <a:ext cx="4425696" cy="9235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Western and Cascade sites: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more rain and higher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SMAP soil moisture.</a:t>
            </a:r>
          </a:p>
        </p:txBody>
      </p:sp>
      <p:sp>
        <p:nvSpPr>
          <p:cNvPr id="81" name="Poster text 079"/>
          <p:cNvSpPr txBox="1"/>
          <p:nvPr/>
        </p:nvSpPr>
        <p:spPr>
          <a:xfrm>
            <a:off x="11594592" y="18740119"/>
            <a:ext cx="4425696" cy="5760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Wettest-month rain: 391 mm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SMAP soil moisture: 0.414 m³/m³</a:t>
            </a:r>
          </a:p>
        </p:txBody>
      </p:sp>
      <p:sp>
        <p:nvSpPr>
          <p:cNvPr id="82" name="Poster box 080"/>
          <p:cNvSpPr/>
          <p:nvPr/>
        </p:nvSpPr>
        <p:spPr>
          <a:xfrm>
            <a:off x="16733520" y="16838167"/>
            <a:ext cx="4754880" cy="2587752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 w="12700">
            <a:solidFill>
              <a:srgbClr val="B48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oster box 081"/>
          <p:cNvSpPr/>
          <p:nvPr/>
        </p:nvSpPr>
        <p:spPr>
          <a:xfrm>
            <a:off x="16733520" y="16838167"/>
            <a:ext cx="4754880" cy="64008"/>
          </a:xfrm>
          <a:prstGeom prst="rect">
            <a:avLst/>
          </a:prstGeom>
          <a:solidFill>
            <a:srgbClr val="B48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oster text 082"/>
          <p:cNvSpPr txBox="1"/>
          <p:nvPr/>
        </p:nvSpPr>
        <p:spPr>
          <a:xfrm>
            <a:off x="16898112" y="17002759"/>
            <a:ext cx="4425696" cy="3657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713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B48024"/>
                </a:solidFill>
                <a:latin typeface="DejaVu Sans"/>
              </a:defRPr>
            </a:pPr>
            <a:r>
              <a:t>Drier / Lowlands</a:t>
            </a:r>
          </a:p>
        </p:txBody>
      </p:sp>
      <p:sp>
        <p:nvSpPr>
          <p:cNvPr id="85" name="Poster text 083"/>
          <p:cNvSpPr txBox="1"/>
          <p:nvPr/>
        </p:nvSpPr>
        <p:spPr>
          <a:xfrm>
            <a:off x="16898112" y="17432527"/>
            <a:ext cx="4425696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02B35"/>
                </a:solidFill>
                <a:latin typeface="DejaVu Sans"/>
              </a:defRPr>
            </a:pPr>
            <a:r>
              <a:t>2 training stations</a:t>
            </a:r>
          </a:p>
        </p:txBody>
      </p:sp>
      <p:sp>
        <p:nvSpPr>
          <p:cNvPr id="86" name="Poster text 084"/>
          <p:cNvSpPr txBox="1"/>
          <p:nvPr/>
        </p:nvSpPr>
        <p:spPr>
          <a:xfrm>
            <a:off x="16898112" y="17834863"/>
            <a:ext cx="4425696" cy="9235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Spokane and Sourdough Gulch: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less rain and lower</a:t>
            </a:r>
          </a:p>
          <a:p>
            <a:pPr algn="ctr">
              <a:lnSpc>
                <a:spcPts val="2242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202B35"/>
                </a:solidFill>
                <a:latin typeface="DejaVu Sans"/>
              </a:defRPr>
            </a:pPr>
            <a:r>
              <a:t>SMAP soil moisture.</a:t>
            </a:r>
          </a:p>
        </p:txBody>
      </p:sp>
      <p:sp>
        <p:nvSpPr>
          <p:cNvPr id="87" name="Poster text 085"/>
          <p:cNvSpPr txBox="1"/>
          <p:nvPr/>
        </p:nvSpPr>
        <p:spPr>
          <a:xfrm>
            <a:off x="16898112" y="18740119"/>
            <a:ext cx="4425696" cy="5760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Wettest-month rain: 70 mm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B35"/>
                </a:solidFill>
                <a:latin typeface="DejaVu Sans"/>
              </a:defRPr>
            </a:pPr>
            <a:r>
              <a:t>SMAP soil moisture: 0.192 m³/m³</a:t>
            </a:r>
          </a:p>
        </p:txBody>
      </p:sp>
      <p:sp>
        <p:nvSpPr>
          <p:cNvPr id="88" name="Poster text 086"/>
          <p:cNvSpPr txBox="1"/>
          <p:nvPr/>
        </p:nvSpPr>
        <p:spPr>
          <a:xfrm>
            <a:off x="11430000" y="19590511"/>
            <a:ext cx="10058400" cy="16484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 regimes separate primarily along gradients of rainfall and SMAP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soil moisture. Because the wetter group includes lowland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mountain stations, elevation alone does not distinguish them.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Displayed values are input medians; other deployments should select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cluster counts based on local environmental data.</a:t>
            </a:r>
          </a:p>
        </p:txBody>
      </p:sp>
      <p:sp>
        <p:nvSpPr>
          <p:cNvPr id="89" name="Evaluation and results"/>
          <p:cNvSpPr/>
          <p:nvPr/>
        </p:nvSpPr>
        <p:spPr>
          <a:xfrm>
            <a:off x="21991320" y="317296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Poster text 088"/>
          <p:cNvSpPr txBox="1"/>
          <p:nvPr/>
        </p:nvSpPr>
        <p:spPr>
          <a:xfrm>
            <a:off x="22082760" y="319399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Evaluation and results</a:t>
            </a:r>
          </a:p>
        </p:txBody>
      </p:sp>
      <p:sp>
        <p:nvSpPr>
          <p:cNvPr id="91" name="Poster text 089"/>
          <p:cNvSpPr txBox="1"/>
          <p:nvPr/>
        </p:nvSpPr>
        <p:spPr>
          <a:xfrm>
            <a:off x="22174200" y="3831336"/>
            <a:ext cx="4754880" cy="5120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0000"/>
                </a:solidFill>
                <a:latin typeface="DejaVu Sans"/>
              </a:defRPr>
            </a:pPr>
            <a:r>
              <a:t>+0.0320</a:t>
            </a:r>
          </a:p>
        </p:txBody>
      </p:sp>
      <p:sp>
        <p:nvSpPr>
          <p:cNvPr id="92" name="Poster text 090"/>
          <p:cNvSpPr txBox="1"/>
          <p:nvPr/>
        </p:nvSpPr>
        <p:spPr>
          <a:xfrm>
            <a:off x="22174200" y="4389120"/>
            <a:ext cx="47548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02B35"/>
                </a:solidFill>
                <a:latin typeface="DejaVu Sans"/>
              </a:defRPr>
            </a:pPr>
            <a:r>
              <a:t>Later-year R² gain</a:t>
            </a:r>
          </a:p>
        </p:txBody>
      </p:sp>
      <p:sp>
        <p:nvSpPr>
          <p:cNvPr id="93" name="Poster text 091"/>
          <p:cNvSpPr txBox="1"/>
          <p:nvPr/>
        </p:nvSpPr>
        <p:spPr>
          <a:xfrm>
            <a:off x="27477720" y="3831336"/>
            <a:ext cx="4754880" cy="5120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C00000"/>
                </a:solidFill>
                <a:latin typeface="DejaVu Sans"/>
              </a:defRPr>
            </a:pPr>
            <a:r>
              <a:t>+0.0581</a:t>
            </a:r>
          </a:p>
        </p:txBody>
      </p:sp>
      <p:sp>
        <p:nvSpPr>
          <p:cNvPr id="94" name="Poster text 092"/>
          <p:cNvSpPr txBox="1"/>
          <p:nvPr/>
        </p:nvSpPr>
        <p:spPr>
          <a:xfrm>
            <a:off x="27477720" y="4389120"/>
            <a:ext cx="47548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02B35"/>
                </a:solidFill>
                <a:latin typeface="DejaVu Sans"/>
              </a:defRPr>
            </a:pPr>
            <a:r>
              <a:t>Station-holdout R² gain</a:t>
            </a:r>
          </a:p>
        </p:txBody>
      </p:sp>
      <p:pic>
        <p:nvPicPr>
          <p:cNvPr id="95" name="model_comparison" descr="model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19920" y="4800600"/>
            <a:ext cx="9966960" cy="2560320"/>
          </a:xfrm>
          <a:prstGeom prst="rect">
            <a:avLst/>
          </a:prstGeom>
        </p:spPr>
      </p:pic>
      <p:sp>
        <p:nvSpPr>
          <p:cNvPr id="96" name="Caption model_comparison"/>
          <p:cNvSpPr txBox="1"/>
          <p:nvPr/>
        </p:nvSpPr>
        <p:spPr>
          <a:xfrm>
            <a:off x="22174200" y="7424927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3. Mean R² across 30 later-year runs and five seeds per held-out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station, using matched seeds (higher is better).</a:t>
            </a:r>
          </a:p>
        </p:txBody>
      </p:sp>
      <p:sp>
        <p:nvSpPr>
          <p:cNvPr id="97" name="Poster text 095"/>
          <p:cNvSpPr txBox="1"/>
          <p:nvPr/>
        </p:nvSpPr>
        <p:spPr>
          <a:xfrm>
            <a:off x="22174200" y="8152383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The two-regime model achieves higher R² across all 30 later-year runs.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Spatial station holdouts also favor specialization on average (+0.0581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R²), though gains vary by regional coverage.</a:t>
            </a:r>
          </a:p>
        </p:txBody>
      </p:sp>
      <p:pic>
        <p:nvPicPr>
          <p:cNvPr id="98" name="held_out_station_effects" descr="held_out_station_eff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19920" y="9251187"/>
            <a:ext cx="9966960" cy="2971800"/>
          </a:xfrm>
          <a:prstGeom prst="rect">
            <a:avLst/>
          </a:prstGeom>
        </p:spPr>
      </p:pic>
      <p:sp>
        <p:nvSpPr>
          <p:cNvPr id="99" name="Caption held_out_station_effects"/>
          <p:cNvSpPr txBox="1"/>
          <p:nvPr/>
        </p:nvSpPr>
        <p:spPr>
          <a:xfrm>
            <a:off x="22174200" y="12286996"/>
            <a:ext cx="10058400" cy="29971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4. Held-out station R² differences (four gains and three losses).</a:t>
            </a:r>
          </a:p>
        </p:txBody>
      </p:sp>
      <p:sp>
        <p:nvSpPr>
          <p:cNvPr id="100" name="Poster text 098"/>
          <p:cNvSpPr txBox="1"/>
          <p:nvPr/>
        </p:nvSpPr>
        <p:spPr>
          <a:xfrm>
            <a:off x="22174200" y="12714732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Cayuse Pass gains +0.25 R². Conversely, withholding either eastern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station removes half the drier group's data, underscoring sensitivity to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sparse regional coverage.</a:t>
            </a:r>
          </a:p>
        </p:txBody>
      </p:sp>
      <p:sp>
        <p:nvSpPr>
          <p:cNvPr id="101" name="ECE sensor-site evaluation"/>
          <p:cNvSpPr/>
          <p:nvPr/>
        </p:nvSpPr>
        <p:spPr>
          <a:xfrm>
            <a:off x="21991320" y="13813535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Poster text 100"/>
          <p:cNvSpPr txBox="1"/>
          <p:nvPr/>
        </p:nvSpPr>
        <p:spPr>
          <a:xfrm>
            <a:off x="22082760" y="13834567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ECE sensor-site evaluation</a:t>
            </a:r>
          </a:p>
        </p:txBody>
      </p:sp>
      <p:sp>
        <p:nvSpPr>
          <p:cNvPr id="103" name="Poster text 101"/>
          <p:cNvSpPr txBox="1"/>
          <p:nvPr/>
        </p:nvSpPr>
        <p:spPr>
          <a:xfrm>
            <a:off x="22174200" y="14471904"/>
            <a:ext cx="10058400" cy="131876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At five sensor sites deployed by Seattle University's ECE team, missing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real-time SMAP retrievals triggered an automated fallback router using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recent rainfall history. Regime thresholds were calibrated on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Washington validation data without target labels.</a:t>
            </a:r>
          </a:p>
        </p:txBody>
      </p:sp>
      <p:pic>
        <p:nvPicPr>
          <p:cNvPr id="104" name="ece_routing" descr="ece_rout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19920" y="15900400"/>
            <a:ext cx="9966960" cy="1920240"/>
          </a:xfrm>
          <a:prstGeom prst="rect">
            <a:avLst/>
          </a:prstGeom>
        </p:spPr>
      </p:pic>
      <p:sp>
        <p:nvSpPr>
          <p:cNvPr id="105" name="Caption ece_routing"/>
          <p:cNvSpPr txBox="1"/>
          <p:nvPr/>
        </p:nvSpPr>
        <p:spPr>
          <a:xfrm>
            <a:off x="22174200" y="17884648"/>
            <a:ext cx="10058400" cy="59943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Figure 5. Pooled RMSE at ECE sites. The rainfall fallback matches global model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36875"/>
                </a:solidFill>
                <a:latin typeface="DejaVu Sans"/>
              </a:defRPr>
            </a:pPr>
            <a:r>
              <a:t>error (lower is better).</a:t>
            </a:r>
          </a:p>
        </p:txBody>
      </p:sp>
      <p:sp>
        <p:nvSpPr>
          <p:cNvPr id="106" name="Poster text 104"/>
          <p:cNvSpPr txBox="1"/>
          <p:nvPr/>
        </p:nvSpPr>
        <p:spPr>
          <a:xfrm>
            <a:off x="22174200" y="18612104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During the dry summer period (July 20 to August 19, 2026; 150 daily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observations), the fallback assigned all dates to the drier specialist.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Full-season multi-regime performance remains untested.</a:t>
            </a:r>
          </a:p>
        </p:txBody>
      </p:sp>
      <p:sp>
        <p:nvSpPr>
          <p:cNvPr id="107" name="Discussion and next steps"/>
          <p:cNvSpPr/>
          <p:nvPr/>
        </p:nvSpPr>
        <p:spPr>
          <a:xfrm>
            <a:off x="21991320" y="19710908"/>
            <a:ext cx="10424160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 w="12700">
            <a:solidFill>
              <a:srgbClr val="176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Poster text 106"/>
          <p:cNvSpPr txBox="1"/>
          <p:nvPr/>
        </p:nvSpPr>
        <p:spPr>
          <a:xfrm>
            <a:off x="22082760" y="19731939"/>
            <a:ext cx="10241280" cy="4663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Discussion and next steps</a:t>
            </a:r>
          </a:p>
        </p:txBody>
      </p:sp>
      <p:sp>
        <p:nvSpPr>
          <p:cNvPr id="109" name="Poster text 107"/>
          <p:cNvSpPr txBox="1"/>
          <p:nvPr/>
        </p:nvSpPr>
        <p:spPr>
          <a:xfrm>
            <a:off x="22174200" y="20369276"/>
            <a:ext cx="10058400" cy="9890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Specialist gains rely on accurate routing and representative training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networks. Future work evaluates multi-season ECE sensor data and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02B35"/>
                </a:solidFill>
                <a:latin typeface="DejaVu Sans"/>
              </a:defRPr>
            </a:pPr>
            <a:r>
              <a:t>strengthens router robustness under intermittent satellite availability.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Two-Regime Models for Daily Soil-Moisture Estimation in Washington</dc:title>
  <dc:subject>Summer research showcase: Washington daily soil-moisture models</dc:subject>
  <dc:creator>[Author names]</dc:creator>
  <cp:keywords>soil moisture, Washington, two regimes, XGBoost, Seattle University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