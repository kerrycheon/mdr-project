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21945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attle University monogram" descr="su_mon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8"/>
            <a:ext cx="1975104" cy="1817095"/>
          </a:xfrm>
          <a:prstGeom prst="rect">
            <a:avLst/>
          </a:prstGeom>
        </p:spPr>
      </p:pic>
      <p:pic>
        <p:nvPicPr>
          <p:cNvPr id="3" name="Seattle University college logo" descr="su_colle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0" y="694944"/>
            <a:ext cx="3886200" cy="1646939"/>
          </a:xfrm>
          <a:prstGeom prst="rect">
            <a:avLst/>
          </a:prstGeom>
        </p:spPr>
      </p:pic>
      <p:sp>
        <p:nvSpPr>
          <p:cNvPr id="4" name="Poster title"/>
          <p:cNvSpPr txBox="1"/>
          <p:nvPr/>
        </p:nvSpPr>
        <p:spPr>
          <a:xfrm>
            <a:off x="2971800" y="347472"/>
            <a:ext cx="25008840" cy="14904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5664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202B35"/>
                </a:solidFill>
                <a:latin typeface="DejaVu Sans"/>
              </a:defRPr>
            </a:pPr>
            <a:r>
              <a:t>Two-Regime Models for Daily Soil-Moisture</a:t>
            </a:r>
          </a:p>
          <a:p>
            <a:pPr algn="ctr">
              <a:lnSpc>
                <a:spcPts val="5664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202B35"/>
                </a:solidFill>
                <a:latin typeface="DejaVu Sans"/>
              </a:defRPr>
            </a:pPr>
            <a:r>
              <a:t>Estimation in Washington</a:t>
            </a:r>
          </a:p>
        </p:txBody>
      </p:sp>
      <p:sp>
        <p:nvSpPr>
          <p:cNvPr id="5" name="Editable author and mentor placeholders"/>
          <p:cNvSpPr txBox="1"/>
          <p:nvPr/>
        </p:nvSpPr>
        <p:spPr>
          <a:xfrm>
            <a:off x="2971800" y="1847088"/>
            <a:ext cx="25008840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832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02B35"/>
                </a:solidFill>
                <a:latin typeface="DejaVu Sans"/>
              </a:defRPr>
            </a:pPr>
            <a:r>
              <a:t>[Author names] · Mentored by [Mentor name, credentials]</a:t>
            </a:r>
          </a:p>
        </p:txBody>
      </p:sp>
      <p:sp>
        <p:nvSpPr>
          <p:cNvPr id="6" name="Department affiliation"/>
          <p:cNvSpPr txBox="1"/>
          <p:nvPr/>
        </p:nvSpPr>
        <p:spPr>
          <a:xfrm>
            <a:off x="2971800" y="2304288"/>
            <a:ext cx="25008840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Department of Computer Science, Seattle University</a:t>
            </a:r>
          </a:p>
        </p:txBody>
      </p:sp>
      <p:sp>
        <p:nvSpPr>
          <p:cNvPr id="7" name="Poster text 005"/>
          <p:cNvSpPr txBox="1"/>
          <p:nvPr/>
        </p:nvSpPr>
        <p:spPr>
          <a:xfrm>
            <a:off x="2971800" y="2743200"/>
            <a:ext cx="25008840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697780"/>
                </a:solidFill>
                <a:latin typeface="DejaVu Sans"/>
              </a:defRPr>
            </a:pPr>
            <a:r>
              <a:t>SUMMER RESEARCH SHOWCASE · 2026</a:t>
            </a:r>
          </a:p>
        </p:txBody>
      </p:sp>
      <p:sp>
        <p:nvSpPr>
          <p:cNvPr id="8" name="Background &amp; Research Question"/>
          <p:cNvSpPr/>
          <p:nvPr/>
        </p:nvSpPr>
        <p:spPr>
          <a:xfrm>
            <a:off x="502920" y="3172968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oster text 007"/>
          <p:cNvSpPr txBox="1"/>
          <p:nvPr/>
        </p:nvSpPr>
        <p:spPr>
          <a:xfrm>
            <a:off x="594360" y="3193999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Background &amp; Research Question</a:t>
            </a:r>
          </a:p>
        </p:txBody>
      </p:sp>
      <p:sp>
        <p:nvSpPr>
          <p:cNvPr id="10" name="Poster text 008"/>
          <p:cNvSpPr txBox="1"/>
          <p:nvPr/>
        </p:nvSpPr>
        <p:spPr>
          <a:xfrm>
            <a:off x="685800" y="3831336"/>
            <a:ext cx="10058400" cy="4046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C00000"/>
                </a:solidFill>
                <a:latin typeface="DejaVu Sans"/>
              </a:defRPr>
            </a:pPr>
            <a:r>
              <a:t>Why soil moisture estimation?</a:t>
            </a:r>
          </a:p>
        </p:txBody>
      </p:sp>
      <p:sp>
        <p:nvSpPr>
          <p:cNvPr id="11" name="Poster text 009"/>
          <p:cNvSpPr txBox="1"/>
          <p:nvPr/>
        </p:nvSpPr>
        <p:spPr>
          <a:xfrm>
            <a:off x="685800" y="4437126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Soil moisture describes water stored near the land surface. It informs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irrigation, drought monitoring, and our understanding of water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availability. Estimates help us follow rainfall responses and drying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where direct measurements are sparse.</a:t>
            </a:r>
          </a:p>
        </p:txBody>
      </p:sp>
      <p:sp>
        <p:nvSpPr>
          <p:cNvPr id="12" name="Poster text 010"/>
          <p:cNvSpPr txBox="1"/>
          <p:nvPr/>
        </p:nvSpPr>
        <p:spPr>
          <a:xfrm>
            <a:off x="685800" y="5865622"/>
            <a:ext cx="10058400" cy="16484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Ground sensors measure local conditions; satellites offer broader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coverage, but leave gaps between observations and missing retrievals.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Our project combines satellite, weather, and site information for daily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estimates. Earlier work established this pipeline and a single global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XGBoost predictor.</a:t>
            </a:r>
          </a:p>
        </p:txBody>
      </p:sp>
      <p:sp>
        <p:nvSpPr>
          <p:cNvPr id="13" name="Poster box 011"/>
          <p:cNvSpPr/>
          <p:nvPr/>
        </p:nvSpPr>
        <p:spPr>
          <a:xfrm>
            <a:off x="685800" y="7623810"/>
            <a:ext cx="10058400" cy="1322832"/>
          </a:xfrm>
          <a:prstGeom prst="roundRect">
            <a:avLst>
              <a:gd name="adj" fmla="val 8000"/>
            </a:avLst>
          </a:prstGeom>
          <a:solidFill>
            <a:srgbClr val="F5F1ED"/>
          </a:solidFill>
          <a:ln w="12700">
            <a:solidFill>
              <a:srgbClr val="DED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oster text 012"/>
          <p:cNvSpPr txBox="1"/>
          <p:nvPr/>
        </p:nvSpPr>
        <p:spPr>
          <a:xfrm>
            <a:off x="886968" y="7733538"/>
            <a:ext cx="9656064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00000"/>
                </a:solidFill>
                <a:latin typeface="DejaVu Sans"/>
              </a:defRPr>
            </a:pPr>
            <a:r>
              <a:t>THE SUMMER RESEARCH QUESTION</a:t>
            </a:r>
          </a:p>
        </p:txBody>
      </p:sp>
      <p:sp>
        <p:nvSpPr>
          <p:cNvPr id="15" name="Poster text 013"/>
          <p:cNvSpPr txBox="1"/>
          <p:nvPr/>
        </p:nvSpPr>
        <p:spPr>
          <a:xfrm>
            <a:off x="886968" y="8126730"/>
            <a:ext cx="9656064" cy="7193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832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2B35"/>
                </a:solidFill>
                <a:latin typeface="DejaVu Sans"/>
              </a:defRPr>
            </a:pPr>
            <a:r>
              <a:t>Can two specialists improve estimates across</a:t>
            </a:r>
          </a:p>
          <a:p>
            <a:pPr algn="l">
              <a:lnSpc>
                <a:spcPts val="2832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2B35"/>
                </a:solidFill>
                <a:latin typeface="DejaVu Sans"/>
              </a:defRPr>
            </a:pPr>
            <a:r>
              <a:t>Washington's contrasting conditions?</a:t>
            </a:r>
          </a:p>
        </p:txBody>
      </p:sp>
      <p:sp>
        <p:nvSpPr>
          <p:cNvPr id="16" name="Poster text 014"/>
          <p:cNvSpPr txBox="1"/>
          <p:nvPr/>
        </p:nvSpPr>
        <p:spPr>
          <a:xfrm>
            <a:off x="685800" y="9147810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This summer's work tests feature-based specialization against the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global predictor, adds consistent assignment for known stations, and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examines how missing routing inputs affect estimates at new sensor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sites.</a:t>
            </a:r>
          </a:p>
        </p:txBody>
      </p:sp>
      <p:sp>
        <p:nvSpPr>
          <p:cNvPr id="17" name="Study Area &amp; Data"/>
          <p:cNvSpPr/>
          <p:nvPr/>
        </p:nvSpPr>
        <p:spPr>
          <a:xfrm>
            <a:off x="502920" y="10576305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oster text 016"/>
          <p:cNvSpPr txBox="1"/>
          <p:nvPr/>
        </p:nvSpPr>
        <p:spPr>
          <a:xfrm>
            <a:off x="594360" y="10597337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Study Area &amp; Data</a:t>
            </a:r>
          </a:p>
        </p:txBody>
      </p:sp>
      <p:pic>
        <p:nvPicPr>
          <p:cNvPr id="19" name="washington_stations" descr="washington_sta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234674"/>
            <a:ext cx="6400800" cy="4114800"/>
          </a:xfrm>
          <a:prstGeom prst="rect">
            <a:avLst/>
          </a:prstGeom>
        </p:spPr>
      </p:pic>
      <p:sp>
        <p:nvSpPr>
          <p:cNvPr id="20" name="Poster text 018"/>
          <p:cNvSpPr txBox="1"/>
          <p:nvPr/>
        </p:nvSpPr>
        <p:spPr>
          <a:xfrm>
            <a:off x="7406640" y="11463274"/>
            <a:ext cx="3337560" cy="3474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536875"/>
                </a:solidFill>
                <a:latin typeface="DejaVu Sans"/>
              </a:defRPr>
            </a:pPr>
            <a:r>
              <a:t>Regional contrast</a:t>
            </a:r>
          </a:p>
        </p:txBody>
      </p:sp>
      <p:sp>
        <p:nvSpPr>
          <p:cNvPr id="21" name="Study-area interpretation"/>
          <p:cNvSpPr txBox="1"/>
          <p:nvPr/>
        </p:nvSpPr>
        <p:spPr>
          <a:xfrm>
            <a:off x="7406640" y="11938762"/>
            <a:ext cx="3337560" cy="2997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Washington spans coastal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sites, Cascade mountains,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and a drier east. We ask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whether two specialists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can learn distinct soil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responses in these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settings. Each station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holdout tests how well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these patterns carry to a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new site.</a:t>
            </a:r>
          </a:p>
        </p:txBody>
      </p:sp>
      <p:sp>
        <p:nvSpPr>
          <p:cNvPr id="22" name="Caption washington_stations"/>
          <p:cNvSpPr txBox="1"/>
          <p:nvPr/>
        </p:nvSpPr>
        <p:spPr>
          <a:xfrm>
            <a:off x="685800" y="15413481"/>
            <a:ext cx="10058400" cy="59943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Figure 1. Seven Washington training stations and their fitted memberships;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points do not define geographic regime boundaries.</a:t>
            </a:r>
          </a:p>
        </p:txBody>
      </p:sp>
      <p:sp>
        <p:nvSpPr>
          <p:cNvPr id="23" name="Poster text 021"/>
          <p:cNvSpPr txBox="1"/>
          <p:nvPr/>
        </p:nvSpPr>
        <p:spPr>
          <a:xfrm>
            <a:off x="685800" y="16140937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NOAA USCRN and SNOTEL supply in-situ observations. Inputs combine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SMAP moisture, Sentinel radar and optical measurements, MODIS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temperature and vegetation, ERA5-Land weather, and terrain, climate,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land-cover, and soil descriptors.</a:t>
            </a:r>
          </a:p>
        </p:txBody>
      </p:sp>
      <p:sp>
        <p:nvSpPr>
          <p:cNvPr id="24" name="Poster text 022"/>
          <p:cNvSpPr txBox="1"/>
          <p:nvPr/>
        </p:nvSpPr>
        <p:spPr>
          <a:xfrm>
            <a:off x="685800" y="17569433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The pipeline aligns sources daily, fills observation gaps, smooths the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series, and derives recent-history features. Both approaches receive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identical prepared inputs, keeping the comparison focused on grouping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and assignment.</a:t>
            </a:r>
          </a:p>
        </p:txBody>
      </p:sp>
      <p:sp>
        <p:nvSpPr>
          <p:cNvPr id="25" name="Poster box 023"/>
          <p:cNvSpPr/>
          <p:nvPr/>
        </p:nvSpPr>
        <p:spPr>
          <a:xfrm>
            <a:off x="731520" y="18997929"/>
            <a:ext cx="4663440" cy="932688"/>
          </a:xfrm>
          <a:prstGeom prst="roundRect">
            <a:avLst>
              <a:gd name="adj" fmla="val 8000"/>
            </a:avLst>
          </a:prstGeom>
          <a:solidFill>
            <a:srgbClr val="ED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oster text 024"/>
          <p:cNvSpPr txBox="1"/>
          <p:nvPr/>
        </p:nvSpPr>
        <p:spPr>
          <a:xfrm>
            <a:off x="868680" y="19116801"/>
            <a:ext cx="4389120" cy="667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02B35"/>
                </a:solidFill>
                <a:latin typeface="DejaVu Sans"/>
              </a:defRPr>
            </a:pPr>
            <a:r>
              <a:t>2017–2022</a:t>
            </a:r>
          </a:p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02B35"/>
                </a:solidFill>
                <a:latin typeface="DejaVu Sans"/>
              </a:defRPr>
            </a:pPr>
            <a:r>
              <a:t>Final fitting period</a:t>
            </a:r>
          </a:p>
        </p:txBody>
      </p:sp>
      <p:sp>
        <p:nvSpPr>
          <p:cNvPr id="27" name="Poster box 025"/>
          <p:cNvSpPr/>
          <p:nvPr/>
        </p:nvSpPr>
        <p:spPr>
          <a:xfrm>
            <a:off x="6035040" y="18997929"/>
            <a:ext cx="4663440" cy="932688"/>
          </a:xfrm>
          <a:prstGeom prst="roundRect">
            <a:avLst>
              <a:gd name="adj" fmla="val 8000"/>
            </a:avLst>
          </a:prstGeom>
          <a:solidFill>
            <a:srgbClr val="F5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oster text 026"/>
          <p:cNvSpPr txBox="1"/>
          <p:nvPr/>
        </p:nvSpPr>
        <p:spPr>
          <a:xfrm>
            <a:off x="6172200" y="19116801"/>
            <a:ext cx="4389120" cy="667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02B35"/>
                </a:solidFill>
                <a:latin typeface="DejaVu Sans"/>
              </a:defRPr>
            </a:pPr>
            <a:r>
              <a:t>2023–2025</a:t>
            </a:r>
          </a:p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02B35"/>
                </a:solidFill>
                <a:latin typeface="DejaVu Sans"/>
              </a:defRPr>
            </a:pPr>
            <a:r>
              <a:t>Later-year test</a:t>
            </a:r>
          </a:p>
        </p:txBody>
      </p:sp>
      <p:cxnSp>
        <p:nvCxnSpPr>
          <p:cNvPr id="29" name="Poster line 027"/>
          <p:cNvCxnSpPr/>
          <p:nvPr/>
        </p:nvCxnSpPr>
        <p:spPr>
          <a:xfrm>
            <a:off x="5522976" y="19464273"/>
            <a:ext cx="411480" cy="0"/>
          </a:xfrm>
          <a:prstGeom prst="line">
            <a:avLst/>
          </a:prstGeom>
          <a:ln w="25400">
            <a:solidFill>
              <a:srgbClr val="919A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oster text 028"/>
          <p:cNvSpPr txBox="1"/>
          <p:nvPr/>
        </p:nvSpPr>
        <p:spPr>
          <a:xfrm>
            <a:off x="685800" y="20095209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Development uses 2017–2020 training and 2021–2022 validation data;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the final fit combines these periods. Evaluation tests later years;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leave-one-station-out evaluation refits without each station to test new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Washington locations.</a:t>
            </a:r>
          </a:p>
        </p:txBody>
      </p:sp>
      <p:sp>
        <p:nvSpPr>
          <p:cNvPr id="31" name="Two-Regime Modeling"/>
          <p:cNvSpPr/>
          <p:nvPr/>
        </p:nvSpPr>
        <p:spPr>
          <a:xfrm>
            <a:off x="11247120" y="3172968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Poster text 030"/>
          <p:cNvSpPr txBox="1"/>
          <p:nvPr/>
        </p:nvSpPr>
        <p:spPr>
          <a:xfrm>
            <a:off x="11338560" y="3193999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Two-Regime Modeling</a:t>
            </a:r>
          </a:p>
        </p:txBody>
      </p:sp>
      <p:sp>
        <p:nvSpPr>
          <p:cNvPr id="33" name="Poster text 031"/>
          <p:cNvSpPr txBox="1"/>
          <p:nvPr/>
        </p:nvSpPr>
        <p:spPr>
          <a:xfrm>
            <a:off x="11430000" y="3831336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 global model fits all observations together. Our model groups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observations by their inputs, then fits an XGBoost specialist per group.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The target is daily volumetric soil moisture at 5 cm depth (m³/m³).</a:t>
            </a:r>
          </a:p>
        </p:txBody>
      </p:sp>
      <p:sp>
        <p:nvSpPr>
          <p:cNvPr id="34" name="Poster box 032"/>
          <p:cNvSpPr/>
          <p:nvPr/>
        </p:nvSpPr>
        <p:spPr>
          <a:xfrm>
            <a:off x="11430000" y="4930140"/>
            <a:ext cx="3108960" cy="1024128"/>
          </a:xfrm>
          <a:prstGeom prst="roundRect">
            <a:avLst>
              <a:gd name="adj" fmla="val 8000"/>
            </a:avLst>
          </a:prstGeom>
          <a:solidFill>
            <a:srgbClr val="F0F3F5"/>
          </a:solidFill>
          <a:ln w="12700">
            <a:solidFill>
              <a:srgbClr val="CE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Poster text 033"/>
          <p:cNvSpPr txBox="1"/>
          <p:nvPr/>
        </p:nvSpPr>
        <p:spPr>
          <a:xfrm>
            <a:off x="11521440" y="5012436"/>
            <a:ext cx="2926080" cy="3017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536875"/>
                </a:solidFill>
                <a:latin typeface="DejaVu Sans"/>
              </a:defRPr>
            </a:pPr>
            <a:r>
              <a:t>SATELLITE</a:t>
            </a:r>
          </a:p>
        </p:txBody>
      </p:sp>
      <p:sp>
        <p:nvSpPr>
          <p:cNvPr id="36" name="Poster text 034"/>
          <p:cNvSpPr txBox="1"/>
          <p:nvPr/>
        </p:nvSpPr>
        <p:spPr>
          <a:xfrm>
            <a:off x="11503152" y="5332476"/>
            <a:ext cx="2962656" cy="5943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Moisture, radar,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vegetation, heat</a:t>
            </a:r>
          </a:p>
        </p:txBody>
      </p:sp>
      <p:cxnSp>
        <p:nvCxnSpPr>
          <p:cNvPr id="37" name="Poster line 035"/>
          <p:cNvCxnSpPr/>
          <p:nvPr/>
        </p:nvCxnSpPr>
        <p:spPr>
          <a:xfrm>
            <a:off x="12984480" y="5990844"/>
            <a:ext cx="0" cy="155448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Poster box 036"/>
          <p:cNvSpPr/>
          <p:nvPr/>
        </p:nvSpPr>
        <p:spPr>
          <a:xfrm>
            <a:off x="14904720" y="4930140"/>
            <a:ext cx="3108960" cy="1024128"/>
          </a:xfrm>
          <a:prstGeom prst="roundRect">
            <a:avLst>
              <a:gd name="adj" fmla="val 8000"/>
            </a:avLst>
          </a:prstGeom>
          <a:solidFill>
            <a:srgbClr val="F0F3F5"/>
          </a:solidFill>
          <a:ln w="12700">
            <a:solidFill>
              <a:srgbClr val="CE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oster text 037"/>
          <p:cNvSpPr txBox="1"/>
          <p:nvPr/>
        </p:nvSpPr>
        <p:spPr>
          <a:xfrm>
            <a:off x="14996160" y="5012436"/>
            <a:ext cx="2926080" cy="3017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536875"/>
                </a:solidFill>
                <a:latin typeface="DejaVu Sans"/>
              </a:defRPr>
            </a:pPr>
            <a:r>
              <a:t>WEATHER</a:t>
            </a:r>
          </a:p>
        </p:txBody>
      </p:sp>
      <p:sp>
        <p:nvSpPr>
          <p:cNvPr id="40" name="Poster text 038"/>
          <p:cNvSpPr txBox="1"/>
          <p:nvPr/>
        </p:nvSpPr>
        <p:spPr>
          <a:xfrm>
            <a:off x="14977872" y="5332476"/>
            <a:ext cx="2962656" cy="5943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Rainfall and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recent history</a:t>
            </a:r>
          </a:p>
        </p:txBody>
      </p:sp>
      <p:cxnSp>
        <p:nvCxnSpPr>
          <p:cNvPr id="41" name="Poster line 039"/>
          <p:cNvCxnSpPr/>
          <p:nvPr/>
        </p:nvCxnSpPr>
        <p:spPr>
          <a:xfrm>
            <a:off x="16459200" y="5990844"/>
            <a:ext cx="0" cy="155448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Poster box 040"/>
          <p:cNvSpPr/>
          <p:nvPr/>
        </p:nvSpPr>
        <p:spPr>
          <a:xfrm>
            <a:off x="18379440" y="4930140"/>
            <a:ext cx="3108960" cy="1024128"/>
          </a:xfrm>
          <a:prstGeom prst="roundRect">
            <a:avLst>
              <a:gd name="adj" fmla="val 8000"/>
            </a:avLst>
          </a:prstGeom>
          <a:solidFill>
            <a:srgbClr val="F0F3F5"/>
          </a:solidFill>
          <a:ln w="12700">
            <a:solidFill>
              <a:srgbClr val="CE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oster text 041"/>
          <p:cNvSpPr txBox="1"/>
          <p:nvPr/>
        </p:nvSpPr>
        <p:spPr>
          <a:xfrm>
            <a:off x="18470880" y="5012436"/>
            <a:ext cx="2926080" cy="3017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536875"/>
                </a:solidFill>
                <a:latin typeface="DejaVu Sans"/>
              </a:defRPr>
            </a:pPr>
            <a:r>
              <a:t>SITE</a:t>
            </a:r>
          </a:p>
        </p:txBody>
      </p:sp>
      <p:sp>
        <p:nvSpPr>
          <p:cNvPr id="44" name="Poster text 042"/>
          <p:cNvSpPr txBox="1"/>
          <p:nvPr/>
        </p:nvSpPr>
        <p:spPr>
          <a:xfrm>
            <a:off x="18452592" y="5332476"/>
            <a:ext cx="2962656" cy="5943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Terrain, climate,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land cover</a:t>
            </a:r>
          </a:p>
        </p:txBody>
      </p:sp>
      <p:cxnSp>
        <p:nvCxnSpPr>
          <p:cNvPr id="45" name="Poster line 043"/>
          <p:cNvCxnSpPr/>
          <p:nvPr/>
        </p:nvCxnSpPr>
        <p:spPr>
          <a:xfrm>
            <a:off x="19933920" y="5990844"/>
            <a:ext cx="0" cy="155448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Poster line 044"/>
          <p:cNvCxnSpPr/>
          <p:nvPr/>
        </p:nvCxnSpPr>
        <p:spPr>
          <a:xfrm>
            <a:off x="12984480" y="6146292"/>
            <a:ext cx="6949440" cy="0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Poster line 045"/>
          <p:cNvCxnSpPr/>
          <p:nvPr/>
        </p:nvCxnSpPr>
        <p:spPr>
          <a:xfrm>
            <a:off x="16459200" y="6146292"/>
            <a:ext cx="0" cy="137160"/>
          </a:xfrm>
          <a:prstGeom prst="line">
            <a:avLst/>
          </a:prstGeom>
          <a:ln w="25400">
            <a:solidFill>
              <a:srgbClr val="919A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Poster box 046"/>
          <p:cNvSpPr/>
          <p:nvPr/>
        </p:nvSpPr>
        <p:spPr>
          <a:xfrm>
            <a:off x="12070080" y="6320028"/>
            <a:ext cx="8778240" cy="1024128"/>
          </a:xfrm>
          <a:prstGeom prst="roundRect">
            <a:avLst>
              <a:gd name="adj" fmla="val 8000"/>
            </a:avLst>
          </a:prstGeom>
          <a:solidFill>
            <a:srgbClr val="EEF2F4"/>
          </a:solidFill>
          <a:ln w="12700">
            <a:solidFill>
              <a:srgbClr val="92A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Poster text 047"/>
          <p:cNvSpPr txBox="1"/>
          <p:nvPr/>
        </p:nvSpPr>
        <p:spPr>
          <a:xfrm>
            <a:off x="12207240" y="6402324"/>
            <a:ext cx="8503920" cy="3931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068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202B35"/>
                </a:solidFill>
                <a:latin typeface="DejaVu Sans"/>
              </a:defRPr>
            </a:pPr>
            <a:r>
              <a:t>Feature-based grouping</a:t>
            </a:r>
          </a:p>
        </p:txBody>
      </p:sp>
      <p:sp>
        <p:nvSpPr>
          <p:cNvPr id="50" name="Poster text 048"/>
          <p:cNvSpPr txBox="1"/>
          <p:nvPr/>
        </p:nvSpPr>
        <p:spPr>
          <a:xfrm>
            <a:off x="12207240" y="6841236"/>
            <a:ext cx="8503920" cy="3383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B35"/>
                </a:solidFill>
                <a:latin typeface="DejaVu Sans"/>
              </a:defRPr>
            </a:pPr>
            <a:r>
              <a:t>Standardize → K-means → station consistency</a:t>
            </a:r>
          </a:p>
        </p:txBody>
      </p:sp>
      <p:cxnSp>
        <p:nvCxnSpPr>
          <p:cNvPr id="51" name="Poster line 049"/>
          <p:cNvCxnSpPr/>
          <p:nvPr/>
        </p:nvCxnSpPr>
        <p:spPr>
          <a:xfrm>
            <a:off x="16459200" y="7389876"/>
            <a:ext cx="0" cy="219456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Poster line 050"/>
          <p:cNvCxnSpPr/>
          <p:nvPr/>
        </p:nvCxnSpPr>
        <p:spPr>
          <a:xfrm>
            <a:off x="13807440" y="7609332"/>
            <a:ext cx="5303520" cy="0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Poster line 051"/>
          <p:cNvCxnSpPr/>
          <p:nvPr/>
        </p:nvCxnSpPr>
        <p:spPr>
          <a:xfrm>
            <a:off x="13807440" y="7609332"/>
            <a:ext cx="0" cy="219456"/>
          </a:xfrm>
          <a:prstGeom prst="line">
            <a:avLst/>
          </a:prstGeom>
          <a:ln w="38100">
            <a:solidFill>
              <a:srgbClr val="176E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Poster box 052"/>
          <p:cNvSpPr/>
          <p:nvPr/>
        </p:nvSpPr>
        <p:spPr>
          <a:xfrm>
            <a:off x="11521440" y="7865364"/>
            <a:ext cx="4572000" cy="1179576"/>
          </a:xfrm>
          <a:prstGeom prst="roundRect">
            <a:avLst>
              <a:gd name="adj" fmla="val 8000"/>
            </a:avLst>
          </a:prstGeom>
          <a:solidFill>
            <a:srgbClr val="17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oster text 053"/>
          <p:cNvSpPr txBox="1"/>
          <p:nvPr/>
        </p:nvSpPr>
        <p:spPr>
          <a:xfrm>
            <a:off x="11631168" y="7965948"/>
            <a:ext cx="4352544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832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Specialist A</a:t>
            </a:r>
          </a:p>
        </p:txBody>
      </p:sp>
      <p:sp>
        <p:nvSpPr>
          <p:cNvPr id="56" name="Poster text 054"/>
          <p:cNvSpPr txBox="1"/>
          <p:nvPr/>
        </p:nvSpPr>
        <p:spPr>
          <a:xfrm>
            <a:off x="11631168" y="8395716"/>
            <a:ext cx="4352544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DejaVu Sans"/>
              </a:defRPr>
            </a:pPr>
            <a:r>
              <a:t>Wet / Mountains</a:t>
            </a:r>
          </a:p>
        </p:txBody>
      </p:sp>
      <p:sp>
        <p:nvSpPr>
          <p:cNvPr id="57" name="Poster text 055"/>
          <p:cNvSpPr txBox="1"/>
          <p:nvPr/>
        </p:nvSpPr>
        <p:spPr>
          <a:xfrm>
            <a:off x="11631168" y="8752332"/>
            <a:ext cx="4352544" cy="26517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FFFFFF"/>
                </a:solidFill>
                <a:latin typeface="DejaVu Sans"/>
              </a:defRPr>
            </a:pPr>
            <a:r>
              <a:t>XGBoost regressor</a:t>
            </a:r>
          </a:p>
        </p:txBody>
      </p:sp>
      <p:cxnSp>
        <p:nvCxnSpPr>
          <p:cNvPr id="58" name="Poster line 056"/>
          <p:cNvCxnSpPr/>
          <p:nvPr/>
        </p:nvCxnSpPr>
        <p:spPr>
          <a:xfrm>
            <a:off x="13807440" y="9081516"/>
            <a:ext cx="0" cy="201168"/>
          </a:xfrm>
          <a:prstGeom prst="line">
            <a:avLst/>
          </a:prstGeom>
          <a:ln w="38100">
            <a:solidFill>
              <a:srgbClr val="17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Poster line 057"/>
          <p:cNvCxnSpPr/>
          <p:nvPr/>
        </p:nvCxnSpPr>
        <p:spPr>
          <a:xfrm>
            <a:off x="19110960" y="7609332"/>
            <a:ext cx="0" cy="219456"/>
          </a:xfrm>
          <a:prstGeom prst="line">
            <a:avLst/>
          </a:prstGeom>
          <a:ln w="38100">
            <a:solidFill>
              <a:srgbClr val="B480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Poster box 058"/>
          <p:cNvSpPr/>
          <p:nvPr/>
        </p:nvSpPr>
        <p:spPr>
          <a:xfrm>
            <a:off x="16824960" y="7865364"/>
            <a:ext cx="4572000" cy="1179576"/>
          </a:xfrm>
          <a:prstGeom prst="roundRect">
            <a:avLst>
              <a:gd name="adj" fmla="val 8000"/>
            </a:avLst>
          </a:prstGeom>
          <a:solidFill>
            <a:srgbClr val="B48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oster text 059"/>
          <p:cNvSpPr txBox="1"/>
          <p:nvPr/>
        </p:nvSpPr>
        <p:spPr>
          <a:xfrm>
            <a:off x="16934688" y="7965948"/>
            <a:ext cx="4352544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832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Specialist B</a:t>
            </a:r>
          </a:p>
        </p:txBody>
      </p:sp>
      <p:sp>
        <p:nvSpPr>
          <p:cNvPr id="62" name="Poster text 060"/>
          <p:cNvSpPr txBox="1"/>
          <p:nvPr/>
        </p:nvSpPr>
        <p:spPr>
          <a:xfrm>
            <a:off x="16934688" y="8395716"/>
            <a:ext cx="4352544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DejaVu Sans"/>
              </a:defRPr>
            </a:pPr>
            <a:r>
              <a:t>Drier / Lowlands</a:t>
            </a:r>
          </a:p>
        </p:txBody>
      </p:sp>
      <p:sp>
        <p:nvSpPr>
          <p:cNvPr id="63" name="Poster text 061"/>
          <p:cNvSpPr txBox="1"/>
          <p:nvPr/>
        </p:nvSpPr>
        <p:spPr>
          <a:xfrm>
            <a:off x="16934688" y="8752332"/>
            <a:ext cx="4352544" cy="26517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FFFFFF"/>
                </a:solidFill>
                <a:latin typeface="DejaVu Sans"/>
              </a:defRPr>
            </a:pPr>
            <a:r>
              <a:t>XGBoost regressor</a:t>
            </a:r>
          </a:p>
        </p:txBody>
      </p:sp>
      <p:cxnSp>
        <p:nvCxnSpPr>
          <p:cNvPr id="64" name="Poster line 062"/>
          <p:cNvCxnSpPr/>
          <p:nvPr/>
        </p:nvCxnSpPr>
        <p:spPr>
          <a:xfrm>
            <a:off x="19110960" y="9081516"/>
            <a:ext cx="0" cy="201168"/>
          </a:xfrm>
          <a:prstGeom prst="line">
            <a:avLst/>
          </a:prstGeom>
          <a:ln w="38100">
            <a:solidFill>
              <a:srgbClr val="B480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oster line 063"/>
          <p:cNvCxnSpPr/>
          <p:nvPr/>
        </p:nvCxnSpPr>
        <p:spPr>
          <a:xfrm>
            <a:off x="13807440" y="9282684"/>
            <a:ext cx="5303520" cy="0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Poster line 064"/>
          <p:cNvCxnSpPr/>
          <p:nvPr/>
        </p:nvCxnSpPr>
        <p:spPr>
          <a:xfrm>
            <a:off x="16459200" y="9282684"/>
            <a:ext cx="0" cy="173736"/>
          </a:xfrm>
          <a:prstGeom prst="line">
            <a:avLst/>
          </a:prstGeom>
          <a:ln w="25400">
            <a:solidFill>
              <a:srgbClr val="919A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Poster box 065"/>
          <p:cNvSpPr/>
          <p:nvPr/>
        </p:nvSpPr>
        <p:spPr>
          <a:xfrm>
            <a:off x="12070080" y="9492996"/>
            <a:ext cx="8778240" cy="978408"/>
          </a:xfrm>
          <a:prstGeom prst="roundRect">
            <a:avLst>
              <a:gd name="adj" fmla="val 8000"/>
            </a:avLst>
          </a:prstGeom>
          <a:solidFill>
            <a:srgbClr val="20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Poster text 066"/>
          <p:cNvSpPr txBox="1"/>
          <p:nvPr/>
        </p:nvSpPr>
        <p:spPr>
          <a:xfrm>
            <a:off x="12207240" y="9566148"/>
            <a:ext cx="8503920" cy="3749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9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DejaVu Sans"/>
              </a:defRPr>
            </a:pPr>
            <a:r>
              <a:t>Daily soil-moisture estimate</a:t>
            </a:r>
          </a:p>
        </p:txBody>
      </p:sp>
      <p:sp>
        <p:nvSpPr>
          <p:cNvPr id="69" name="Editable hard-routing equation"/>
          <p:cNvSpPr txBox="1"/>
          <p:nvPr/>
        </p:nvSpPr>
        <p:spPr>
          <a:xfrm>
            <a:off x="12207240" y="10032492"/>
            <a:ext cx="8503920" cy="3474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FFFFFF"/>
                </a:solidFill>
                <a:latin typeface="DejaVu Sans"/>
              </a:defRPr>
            </a:pPr>
            <a:r>
              <a:t>ŷ = fᵣ(x), r = g(s, x) ∈ {A, B}</a:t>
            </a:r>
          </a:p>
        </p:txBody>
      </p:sp>
      <p:sp>
        <p:nvSpPr>
          <p:cNvPr id="70" name="Poster text 068"/>
          <p:cNvSpPr txBox="1"/>
          <p:nvPr/>
        </p:nvSpPr>
        <p:spPr>
          <a:xfrm>
            <a:off x="11430000" y="10581132"/>
            <a:ext cx="10058400" cy="59943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Figure 2. Hard routing. x denotes inputs, s the station, g the assignment rule,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and fᵣ the selected specialist; one observation produces one estimate.</a:t>
            </a:r>
          </a:p>
        </p:txBody>
      </p:sp>
      <p:sp>
        <p:nvSpPr>
          <p:cNvPr id="71" name="Poster text 069"/>
          <p:cNvSpPr txBox="1"/>
          <p:nvPr/>
        </p:nvSpPr>
        <p:spPr>
          <a:xfrm>
            <a:off x="11430000" y="11290300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1. Learn groups. Fill missing router values with fitting-data means and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standardize features before K-means finds two centroids. New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observations use the nearest centroid. Clustering uses no observed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in-situ targets.</a:t>
            </a:r>
          </a:p>
        </p:txBody>
      </p:sp>
      <p:sp>
        <p:nvSpPr>
          <p:cNvPr id="72" name="Poster text 070"/>
          <p:cNvSpPr txBox="1"/>
          <p:nvPr/>
        </p:nvSpPr>
        <p:spPr>
          <a:xfrm>
            <a:off x="11430000" y="12718796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2. Keep stations consistent. Known stations receive their majority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fitting-data group, keeping observations with one specialist. New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stations use row-level assignment; availability checks can trigger the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fallback described at right.</a:t>
            </a:r>
          </a:p>
        </p:txBody>
      </p:sp>
      <p:sp>
        <p:nvSpPr>
          <p:cNvPr id="73" name="Poster text 071"/>
          <p:cNvSpPr txBox="1"/>
          <p:nvPr/>
        </p:nvSpPr>
        <p:spPr>
          <a:xfrm>
            <a:off x="11430000" y="14147292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3. Isolate specialization. Both approaches use identical features,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XGBoost settings, evaluation rows, and matched seeds. Specialists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learn only from assigned observations, so differences reflect grouping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and assignment under this protocol.</a:t>
            </a:r>
          </a:p>
        </p:txBody>
      </p:sp>
      <p:sp>
        <p:nvSpPr>
          <p:cNvPr id="74" name="Regime Interpretation"/>
          <p:cNvSpPr/>
          <p:nvPr/>
        </p:nvSpPr>
        <p:spPr>
          <a:xfrm>
            <a:off x="11247120" y="15575788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Poster text 073"/>
          <p:cNvSpPr txBox="1"/>
          <p:nvPr/>
        </p:nvSpPr>
        <p:spPr>
          <a:xfrm>
            <a:off x="11338560" y="15596819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Regime Interpretation</a:t>
            </a:r>
          </a:p>
        </p:txBody>
      </p:sp>
      <p:sp>
        <p:nvSpPr>
          <p:cNvPr id="76" name="Poster box 074"/>
          <p:cNvSpPr/>
          <p:nvPr/>
        </p:nvSpPr>
        <p:spPr>
          <a:xfrm>
            <a:off x="11430000" y="16234155"/>
            <a:ext cx="4754880" cy="2587752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12700">
            <a:solidFill>
              <a:srgbClr val="176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Poster box 075"/>
          <p:cNvSpPr/>
          <p:nvPr/>
        </p:nvSpPr>
        <p:spPr>
          <a:xfrm>
            <a:off x="11430000" y="16234155"/>
            <a:ext cx="4754880" cy="64008"/>
          </a:xfrm>
          <a:prstGeom prst="rect">
            <a:avLst/>
          </a:prstGeom>
          <a:solidFill>
            <a:srgbClr val="17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Poster text 076"/>
          <p:cNvSpPr txBox="1"/>
          <p:nvPr/>
        </p:nvSpPr>
        <p:spPr>
          <a:xfrm>
            <a:off x="11594592" y="16398747"/>
            <a:ext cx="4425696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713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6E9B"/>
                </a:solidFill>
                <a:latin typeface="DejaVu Sans"/>
              </a:defRPr>
            </a:pPr>
            <a:r>
              <a:t>Wet / Mountains</a:t>
            </a:r>
          </a:p>
        </p:txBody>
      </p:sp>
      <p:sp>
        <p:nvSpPr>
          <p:cNvPr id="79" name="Poster text 077"/>
          <p:cNvSpPr txBox="1"/>
          <p:nvPr/>
        </p:nvSpPr>
        <p:spPr>
          <a:xfrm>
            <a:off x="11594592" y="16828515"/>
            <a:ext cx="4425696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02B35"/>
                </a:solidFill>
                <a:latin typeface="DejaVu Sans"/>
              </a:defRPr>
            </a:pPr>
            <a:r>
              <a:t>5 fitted stations</a:t>
            </a:r>
          </a:p>
        </p:txBody>
      </p:sp>
      <p:sp>
        <p:nvSpPr>
          <p:cNvPr id="80" name="Poster text 078"/>
          <p:cNvSpPr txBox="1"/>
          <p:nvPr/>
        </p:nvSpPr>
        <p:spPr>
          <a:xfrm>
            <a:off x="11594592" y="17230852"/>
            <a:ext cx="4425696" cy="9235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Western and Cascade sites;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more rain and higher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satellite moisture.</a:t>
            </a:r>
          </a:p>
        </p:txBody>
      </p:sp>
      <p:sp>
        <p:nvSpPr>
          <p:cNvPr id="81" name="Poster text 079"/>
          <p:cNvSpPr txBox="1"/>
          <p:nvPr/>
        </p:nvSpPr>
        <p:spPr>
          <a:xfrm>
            <a:off x="11594592" y="18136107"/>
            <a:ext cx="4425696" cy="5760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2B35"/>
                </a:solidFill>
                <a:latin typeface="DejaVu Sans"/>
              </a:defRPr>
            </a:pPr>
            <a:r>
              <a:t>Wettest-month rain: 391 mm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2B35"/>
                </a:solidFill>
                <a:latin typeface="DejaVu Sans"/>
              </a:defRPr>
            </a:pPr>
            <a:r>
              <a:t>Satellite moisture: 0.414 m³/m³</a:t>
            </a:r>
          </a:p>
        </p:txBody>
      </p:sp>
      <p:sp>
        <p:nvSpPr>
          <p:cNvPr id="82" name="Poster box 080"/>
          <p:cNvSpPr/>
          <p:nvPr/>
        </p:nvSpPr>
        <p:spPr>
          <a:xfrm>
            <a:off x="16733520" y="16234155"/>
            <a:ext cx="4754880" cy="2587752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12700">
            <a:solidFill>
              <a:srgbClr val="B48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Poster box 081"/>
          <p:cNvSpPr/>
          <p:nvPr/>
        </p:nvSpPr>
        <p:spPr>
          <a:xfrm>
            <a:off x="16733520" y="16234155"/>
            <a:ext cx="4754880" cy="64008"/>
          </a:xfrm>
          <a:prstGeom prst="rect">
            <a:avLst/>
          </a:prstGeom>
          <a:solidFill>
            <a:srgbClr val="B48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Poster text 082"/>
          <p:cNvSpPr txBox="1"/>
          <p:nvPr/>
        </p:nvSpPr>
        <p:spPr>
          <a:xfrm>
            <a:off x="16898112" y="16398747"/>
            <a:ext cx="4425696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713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B48024"/>
                </a:solidFill>
                <a:latin typeface="DejaVu Sans"/>
              </a:defRPr>
            </a:pPr>
            <a:r>
              <a:t>Drier / Lowlands</a:t>
            </a:r>
          </a:p>
        </p:txBody>
      </p:sp>
      <p:sp>
        <p:nvSpPr>
          <p:cNvPr id="85" name="Poster text 083"/>
          <p:cNvSpPr txBox="1"/>
          <p:nvPr/>
        </p:nvSpPr>
        <p:spPr>
          <a:xfrm>
            <a:off x="16898112" y="16828515"/>
            <a:ext cx="4425696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02B35"/>
                </a:solidFill>
                <a:latin typeface="DejaVu Sans"/>
              </a:defRPr>
            </a:pPr>
            <a:r>
              <a:t>2 fitted stations</a:t>
            </a:r>
          </a:p>
        </p:txBody>
      </p:sp>
      <p:sp>
        <p:nvSpPr>
          <p:cNvPr id="86" name="Poster text 084"/>
          <p:cNvSpPr txBox="1"/>
          <p:nvPr/>
        </p:nvSpPr>
        <p:spPr>
          <a:xfrm>
            <a:off x="16898112" y="17230852"/>
            <a:ext cx="4425696" cy="9235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Spokane and Sourdough Gulch;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less rain and lower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satellite moisture.</a:t>
            </a:r>
          </a:p>
        </p:txBody>
      </p:sp>
      <p:sp>
        <p:nvSpPr>
          <p:cNvPr id="87" name="Poster text 085"/>
          <p:cNvSpPr txBox="1"/>
          <p:nvPr/>
        </p:nvSpPr>
        <p:spPr>
          <a:xfrm>
            <a:off x="16898112" y="18136107"/>
            <a:ext cx="4425696" cy="5760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2B35"/>
                </a:solidFill>
                <a:latin typeface="DejaVu Sans"/>
              </a:defRPr>
            </a:pPr>
            <a:r>
              <a:t>Wettest-month rain: 70 mm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2B35"/>
                </a:solidFill>
                <a:latin typeface="DejaVu Sans"/>
              </a:defRPr>
            </a:pPr>
            <a:r>
              <a:t>Satellite moisture: 0.192 m³/m³</a:t>
            </a:r>
          </a:p>
        </p:txBody>
      </p:sp>
      <p:sp>
        <p:nvSpPr>
          <p:cNvPr id="88" name="Poster text 086"/>
          <p:cNvSpPr txBox="1"/>
          <p:nvPr/>
        </p:nvSpPr>
        <p:spPr>
          <a:xfrm>
            <a:off x="11430000" y="18986499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These names describe this Washington sample; elevation alone does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not determine membership. The wet group includes lowland and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mountain stations. Medians summarize input conditions, not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measured-moisture thresholds.</a:t>
            </a:r>
          </a:p>
        </p:txBody>
      </p:sp>
      <p:sp>
        <p:nvSpPr>
          <p:cNvPr id="89" name="Poster text 087"/>
          <p:cNvSpPr txBox="1"/>
          <p:nvPr/>
        </p:nvSpPr>
        <p:spPr>
          <a:xfrm>
            <a:off x="11430000" y="20414995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Specialists can learn narrower relationships, but require reliable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assignment and representative training data. Select regime counts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using local data; two groups are useful here.</a:t>
            </a:r>
          </a:p>
        </p:txBody>
      </p:sp>
      <p:sp>
        <p:nvSpPr>
          <p:cNvPr id="90" name="Evaluation &amp; Results"/>
          <p:cNvSpPr/>
          <p:nvPr/>
        </p:nvSpPr>
        <p:spPr>
          <a:xfrm>
            <a:off x="21991320" y="3172968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Poster text 089"/>
          <p:cNvSpPr txBox="1"/>
          <p:nvPr/>
        </p:nvSpPr>
        <p:spPr>
          <a:xfrm>
            <a:off x="22082760" y="3193999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Evaluation &amp; Results</a:t>
            </a:r>
          </a:p>
        </p:txBody>
      </p:sp>
      <p:sp>
        <p:nvSpPr>
          <p:cNvPr id="92" name="Poster text 090"/>
          <p:cNvSpPr txBox="1"/>
          <p:nvPr/>
        </p:nvSpPr>
        <p:spPr>
          <a:xfrm>
            <a:off x="22174200" y="3831336"/>
            <a:ext cx="4754880" cy="5120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77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C00000"/>
                </a:solidFill>
                <a:latin typeface="DejaVu Sans"/>
              </a:defRPr>
            </a:pPr>
            <a:r>
              <a:t>+0.0320</a:t>
            </a:r>
          </a:p>
        </p:txBody>
      </p:sp>
      <p:sp>
        <p:nvSpPr>
          <p:cNvPr id="93" name="Poster text 091"/>
          <p:cNvSpPr txBox="1"/>
          <p:nvPr/>
        </p:nvSpPr>
        <p:spPr>
          <a:xfrm>
            <a:off x="22174200" y="4389120"/>
            <a:ext cx="475488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02B35"/>
                </a:solidFill>
                <a:latin typeface="DejaVu Sans"/>
              </a:defRPr>
            </a:pPr>
            <a:r>
              <a:t>Later-year R² gain</a:t>
            </a:r>
          </a:p>
        </p:txBody>
      </p:sp>
      <p:sp>
        <p:nvSpPr>
          <p:cNvPr id="94" name="Poster text 092"/>
          <p:cNvSpPr txBox="1"/>
          <p:nvPr/>
        </p:nvSpPr>
        <p:spPr>
          <a:xfrm>
            <a:off x="27477720" y="3831336"/>
            <a:ext cx="4754880" cy="5120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77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C00000"/>
                </a:solidFill>
                <a:latin typeface="DejaVu Sans"/>
              </a:defRPr>
            </a:pPr>
            <a:r>
              <a:t>+0.0581</a:t>
            </a:r>
          </a:p>
        </p:txBody>
      </p:sp>
      <p:sp>
        <p:nvSpPr>
          <p:cNvPr id="95" name="Poster text 093"/>
          <p:cNvSpPr txBox="1"/>
          <p:nvPr/>
        </p:nvSpPr>
        <p:spPr>
          <a:xfrm>
            <a:off x="27477720" y="4389120"/>
            <a:ext cx="475488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02B35"/>
                </a:solidFill>
                <a:latin typeface="DejaVu Sans"/>
              </a:defRPr>
            </a:pPr>
            <a:r>
              <a:t>Station-holdout R² gain</a:t>
            </a:r>
          </a:p>
        </p:txBody>
      </p:sp>
      <p:pic>
        <p:nvPicPr>
          <p:cNvPr id="96" name="model_comparison" descr="model_compari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19920" y="4800600"/>
            <a:ext cx="9966960" cy="2560320"/>
          </a:xfrm>
          <a:prstGeom prst="rect">
            <a:avLst/>
          </a:prstGeom>
        </p:spPr>
      </p:pic>
      <p:sp>
        <p:nvSpPr>
          <p:cNvPr id="97" name="Caption model_comparison"/>
          <p:cNvSpPr txBox="1"/>
          <p:nvPr/>
        </p:nvSpPr>
        <p:spPr>
          <a:xfrm>
            <a:off x="22174200" y="7424927"/>
            <a:ext cx="10058400" cy="59943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Figure 3. Mean R²: 30 matched temporal seeds; five per station holdout.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Higher is better.</a:t>
            </a:r>
          </a:p>
        </p:txBody>
      </p:sp>
      <p:sp>
        <p:nvSpPr>
          <p:cNvPr id="98" name="Poster text 096"/>
          <p:cNvSpPr txBox="1"/>
          <p:nvPr/>
        </p:nvSpPr>
        <p:spPr>
          <a:xfrm>
            <a:off x="22174200" y="8152383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Two-regime R² leads in all 30 later-year runs. Station-holdout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performance improves on average, with uneven benefits across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locations.</a:t>
            </a:r>
          </a:p>
        </p:txBody>
      </p:sp>
      <p:pic>
        <p:nvPicPr>
          <p:cNvPr id="99" name="held_out_station_effects" descr="held_out_station_eff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19920" y="9251187"/>
            <a:ext cx="9966960" cy="2971800"/>
          </a:xfrm>
          <a:prstGeom prst="rect">
            <a:avLst/>
          </a:prstGeom>
        </p:spPr>
      </p:pic>
      <p:sp>
        <p:nvSpPr>
          <p:cNvPr id="100" name="Caption held_out_station_effects"/>
          <p:cNvSpPr txBox="1"/>
          <p:nvPr/>
        </p:nvSpPr>
        <p:spPr>
          <a:xfrm>
            <a:off x="22174200" y="12286996"/>
            <a:ext cx="10058400" cy="29971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Figure 4. Five-seed station differences: four gains and three losses.</a:t>
            </a:r>
          </a:p>
        </p:txBody>
      </p:sp>
      <p:sp>
        <p:nvSpPr>
          <p:cNvPr id="101" name="Poster text 099"/>
          <p:cNvSpPr txBox="1"/>
          <p:nvPr/>
        </p:nvSpPr>
        <p:spPr>
          <a:xfrm>
            <a:off x="22174200" y="12714732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Cayuse Pass gains most. Eastern holdouts reduce representation of the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smaller regime. Seeds describe fitting variability, excluding uncertainty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across new sites and seasons.</a:t>
            </a:r>
          </a:p>
        </p:txBody>
      </p:sp>
      <p:sp>
        <p:nvSpPr>
          <p:cNvPr id="102" name="ECE Sensor-Site Evaluation"/>
          <p:cNvSpPr/>
          <p:nvPr/>
        </p:nvSpPr>
        <p:spPr>
          <a:xfrm>
            <a:off x="21991320" y="13813535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Poster text 101"/>
          <p:cNvSpPr txBox="1"/>
          <p:nvPr/>
        </p:nvSpPr>
        <p:spPr>
          <a:xfrm>
            <a:off x="22082760" y="13834567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ECE Sensor-Site Evaluation</a:t>
            </a:r>
          </a:p>
        </p:txBody>
      </p:sp>
      <p:sp>
        <p:nvSpPr>
          <p:cNvPr id="104" name="Poster text 102"/>
          <p:cNvSpPr txBox="1"/>
          <p:nvPr/>
        </p:nvSpPr>
        <p:spPr>
          <a:xfrm>
            <a:off x="22174200" y="14471904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Five new sites deployed by Seattle University's ECE team lacked all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SMAP inputs. An automatic availability gate switched to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antecedent-precipitation routing, with the specialist mapping selected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using Washington validation.</a:t>
            </a:r>
          </a:p>
        </p:txBody>
      </p:sp>
      <p:pic>
        <p:nvPicPr>
          <p:cNvPr id="105" name="ece_routing" descr="ece_rout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19920" y="15900400"/>
            <a:ext cx="9966960" cy="1920240"/>
          </a:xfrm>
          <a:prstGeom prst="rect">
            <a:avLst/>
          </a:prstGeom>
        </p:spPr>
      </p:pic>
      <p:sp>
        <p:nvSpPr>
          <p:cNvPr id="106" name="Caption ece_routing"/>
          <p:cNvSpPr txBox="1"/>
          <p:nvPr/>
        </p:nvSpPr>
        <p:spPr>
          <a:xfrm>
            <a:off x="22174200" y="17884648"/>
            <a:ext cx="10058400" cy="59943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Figure 5. ECE pooled RMSE: fallback approaches global-model error. Lower is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better.</a:t>
            </a:r>
          </a:p>
        </p:txBody>
      </p:sp>
      <p:sp>
        <p:nvSpPr>
          <p:cNvPr id="107" name="Poster text 105"/>
          <p:cNvSpPr txBox="1"/>
          <p:nvPr/>
        </p:nvSpPr>
        <p:spPr>
          <a:xfrm>
            <a:off x="22174200" y="18612104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Across 150 daily observations (July 20–August 19, 2026), every fallback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row used one specialist. This short summer test supports a routing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lesson, without establishing full-season superiority.</a:t>
            </a:r>
          </a:p>
        </p:txBody>
      </p:sp>
      <p:sp>
        <p:nvSpPr>
          <p:cNvPr id="108" name="Discussion &amp; Next Steps"/>
          <p:cNvSpPr/>
          <p:nvPr/>
        </p:nvSpPr>
        <p:spPr>
          <a:xfrm>
            <a:off x="21991320" y="19710908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Poster text 107"/>
          <p:cNvSpPr txBox="1"/>
          <p:nvPr/>
        </p:nvSpPr>
        <p:spPr>
          <a:xfrm>
            <a:off x="22082760" y="19731939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Discussion &amp; Next Steps</a:t>
            </a:r>
          </a:p>
        </p:txBody>
      </p:sp>
      <p:sp>
        <p:nvSpPr>
          <p:cNvPr id="110" name="Poster text 108"/>
          <p:cNvSpPr txBox="1"/>
          <p:nvPr/>
        </p:nvSpPr>
        <p:spPr>
          <a:xfrm>
            <a:off x="22174200" y="20369276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Specialization helps with reliable assignment and representative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training sites. Next, evaluate more Washington stations and seasons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with ECE sensors, and test routing when satellite coverage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Two-Regime Models for Daily Soil-Moisture Estimation in Washington</dc:title>
  <dc:subject>Summer research showcase: Washington daily soil-moisture models</dc:subject>
  <dc:creator>[Author names]</dc:creator>
  <cp:keywords>soil moisture, Washington, two regimes, XGBoost, Seattle University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